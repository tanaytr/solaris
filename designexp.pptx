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Layouts/slideLayout1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9144000" cy="51435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DD4EA"/>
          </a:solidFill>
        </a:fill>
      </a:tcStyle>
    </a:wholeTbl>
    <a:band2H>
      <a:tcTxStyle b="def" i="def"/>
      <a:tcStyle>
        <a:tcBdr/>
        <a:fill>
          <a:solidFill>
            <a:srgbClr val="E8EBF5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E0E0E0"/>
          </a:solidFill>
        </a:fill>
      </a:tcStyle>
    </a:wholeTbl>
    <a:band2H>
      <a:tcTxStyle b="def" i="def"/>
      <a:tcStyle>
        <a:tcBdr/>
        <a:fill>
          <a:solidFill>
            <a:srgbClr val="F0F0F0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4E2CE"/>
          </a:solidFill>
        </a:fill>
      </a:tcStyle>
    </a:wholeTbl>
    <a:band2H>
      <a:tcTxStyle b="def" i="def"/>
      <a:tcStyle>
        <a:tcBdr/>
        <a:fill>
          <a:solidFill>
            <a:srgbClr val="EBF1E8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hape 17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8" name="Shape 18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j-lt"/>
        <a:ea typeface="+mj-ea"/>
        <a:cs typeface="+mj-cs"/>
        <a:sym typeface="Calibri"/>
      </a:defRPr>
    </a:lvl1pPr>
    <a:lvl2pPr indent="228600" latinLnBrk="0">
      <a:defRPr sz="1200">
        <a:latin typeface="+mj-lt"/>
        <a:ea typeface="+mj-ea"/>
        <a:cs typeface="+mj-cs"/>
        <a:sym typeface="Calibri"/>
      </a:defRPr>
    </a:lvl2pPr>
    <a:lvl3pPr indent="457200" latinLnBrk="0">
      <a:defRPr sz="1200">
        <a:latin typeface="+mj-lt"/>
        <a:ea typeface="+mj-ea"/>
        <a:cs typeface="+mj-cs"/>
        <a:sym typeface="Calibri"/>
      </a:defRPr>
    </a:lvl3pPr>
    <a:lvl4pPr indent="685800" latinLnBrk="0">
      <a:defRPr sz="1200">
        <a:latin typeface="+mj-lt"/>
        <a:ea typeface="+mj-ea"/>
        <a:cs typeface="+mj-cs"/>
        <a:sym typeface="Calibri"/>
      </a:defRPr>
    </a:lvl4pPr>
    <a:lvl5pPr indent="914400" latinLnBrk="0">
      <a:defRPr sz="1200">
        <a:latin typeface="+mj-lt"/>
        <a:ea typeface="+mj-ea"/>
        <a:cs typeface="+mj-cs"/>
        <a:sym typeface="Calibri"/>
      </a:defRPr>
    </a:lvl5pPr>
    <a:lvl6pPr indent="1143000" latinLnBrk="0">
      <a:defRPr sz="1200">
        <a:latin typeface="+mj-lt"/>
        <a:ea typeface="+mj-ea"/>
        <a:cs typeface="+mj-cs"/>
        <a:sym typeface="Calibri"/>
      </a:defRPr>
    </a:lvl6pPr>
    <a:lvl7pPr indent="1371600" latinLnBrk="0">
      <a:defRPr sz="1200">
        <a:latin typeface="+mj-lt"/>
        <a:ea typeface="+mj-ea"/>
        <a:cs typeface="+mj-cs"/>
        <a:sym typeface="Calibri"/>
      </a:defRPr>
    </a:lvl7pPr>
    <a:lvl8pPr indent="1600200" latinLnBrk="0">
      <a:defRPr sz="1200">
        <a:latin typeface="+mj-lt"/>
        <a:ea typeface="+mj-ea"/>
        <a:cs typeface="+mj-cs"/>
        <a:sym typeface="Calibri"/>
      </a:defRPr>
    </a:lvl8pPr>
    <a:lvl9pPr indent="1828800" latinLnBrk="0">
      <a:defRPr sz="1200">
        <a:latin typeface="+mj-lt"/>
        <a:ea typeface="+mj-ea"/>
        <a:cs typeface="+mj-cs"/>
        <a:sym typeface="Calibri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/>
          <p:nvPr>
            <p:ph type="title"/>
          </p:nvPr>
        </p:nvSpPr>
        <p:spPr>
          <a:xfrm>
            <a:off x="457200" y="69056"/>
            <a:ext cx="8229600" cy="11310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/>
          <a:lstStyle/>
          <a:p>
            <a:pPr/>
            <a:r>
              <a:t>Title Text</a:t>
            </a:r>
          </a:p>
        </p:txBody>
      </p:sp>
      <p:sp>
        <p:nvSpPr>
          <p:cNvPr id="3" name="Body Level One…"/>
          <p:cNvSpPr txBox="1"/>
          <p:nvPr>
            <p:ph type="body" idx="1"/>
          </p:nvPr>
        </p:nvSpPr>
        <p:spPr>
          <a:xfrm>
            <a:off x="457200" y="1200150"/>
            <a:ext cx="8229600" cy="39433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4419600" y="4627562"/>
            <a:ext cx="2133600" cy="279401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/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  <p:transition xmlns:p14="http://schemas.microsoft.com/office/powerpoint/2010/main" spd="med" advClick="1"/>
  <p:txStyles>
    <p:titleStyle>
      <a:lvl1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1pPr>
      <a:lvl2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2pPr>
      <a:lvl3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3pPr>
      <a:lvl4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4pPr>
      <a:lvl5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5pPr>
      <a:lvl6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6pPr>
      <a:lvl7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7pPr>
      <a:lvl8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8pPr>
      <a:lvl9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9pPr>
    </p:titleStyle>
    <p:bodyStyle>
      <a:lvl1pPr marL="342900" marR="0" indent="-3429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1pPr>
      <a:lvl2pPr marL="783771" marR="0" indent="-326571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2pPr>
      <a:lvl3pPr marL="1219200" marR="0" indent="-3048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3pPr>
      <a:lvl4pPr marL="17373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4pPr>
      <a:lvl5pPr marL="21945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»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5pPr>
      <a:lvl6pPr marL="26517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6pPr>
      <a:lvl7pPr marL="31089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7pPr>
      <a:lvl8pPr marL="35661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8pPr>
      <a:lvl9pPr marL="40233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A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0"/>
          <p:cNvSpPr txBox="1"/>
          <p:nvPr/>
        </p:nvSpPr>
        <p:spPr>
          <a:xfrm>
            <a:off x="685799" y="1330875"/>
            <a:ext cx="7772401" cy="11787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>
              <a:defRPr b="1" sz="3800">
                <a:solidFill>
                  <a:srgbClr val="FFFFFF"/>
                </a:solidFill>
              </a:defRPr>
            </a:pPr>
            <a:r>
              <a:t>Renewable Energy</a:t>
            </a:r>
          </a:p>
          <a:p>
            <a:pPr>
              <a:defRPr b="1" sz="3800">
                <a:solidFill>
                  <a:srgbClr val="FFFFFF"/>
                </a:solidFill>
              </a:defRPr>
            </a:pPr>
            <a:r>
              <a:t>Marketplace Platform</a:t>
            </a:r>
          </a:p>
        </p:txBody>
      </p:sp>
      <p:sp>
        <p:nvSpPr>
          <p:cNvPr id="21" name="Text 1"/>
          <p:cNvSpPr txBox="1"/>
          <p:nvPr/>
        </p:nvSpPr>
        <p:spPr>
          <a:xfrm>
            <a:off x="685800" y="2945700"/>
            <a:ext cx="7223760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400">
                <a:solidFill>
                  <a:srgbClr val="9BB8D4"/>
                </a:solidFill>
              </a:defRPr>
            </a:lvl1pPr>
          </a:lstStyle>
          <a:p>
            <a:pPr/>
            <a:r>
              <a:t>Peer-to-Peer Energy Trading for Solar, Wind &amp; Biogas Producers</a:t>
            </a:r>
          </a:p>
        </p:txBody>
      </p:sp>
      <p:sp>
        <p:nvSpPr>
          <p:cNvPr id="22" name="Shape 2"/>
          <p:cNvSpPr/>
          <p:nvPr/>
        </p:nvSpPr>
        <p:spPr>
          <a:xfrm>
            <a:off x="640080" y="3337559"/>
            <a:ext cx="2011679" cy="64009"/>
          </a:xfrm>
          <a:prstGeom prst="rect">
            <a:avLst/>
          </a:prstGeom>
          <a:solidFill>
            <a:srgbClr val="2E7D4F"/>
          </a:solidFill>
          <a:ln w="12700">
            <a:solidFill>
              <a:srgbClr val="2E7D4F"/>
            </a:solidFill>
          </a:ln>
        </p:spPr>
        <p:txBody>
          <a:bodyPr lIns="45719" rIns="45719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 0"/>
          <p:cNvSpPr txBox="1"/>
          <p:nvPr/>
        </p:nvSpPr>
        <p:spPr>
          <a:xfrm>
            <a:off x="457200" y="265536"/>
            <a:ext cx="8229600" cy="3010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400">
                <a:solidFill>
                  <a:srgbClr val="1A3A5C"/>
                </a:solidFill>
              </a:defRPr>
            </a:lvl1pPr>
          </a:lstStyle>
          <a:p>
            <a:pPr/>
            <a:r>
              <a:t>01  |  Problem Statement</a:t>
            </a:r>
          </a:p>
        </p:txBody>
      </p:sp>
      <p:sp>
        <p:nvSpPr>
          <p:cNvPr id="25" name="Shape 1"/>
          <p:cNvSpPr/>
          <p:nvPr/>
        </p:nvSpPr>
        <p:spPr>
          <a:xfrm>
            <a:off x="457200" y="713231"/>
            <a:ext cx="8229600" cy="1"/>
          </a:xfrm>
          <a:prstGeom prst="line">
            <a:avLst/>
          </a:prstGeom>
          <a:ln w="25400">
            <a:solidFill>
              <a:srgbClr val="2E7D4F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6" name="Shape 2"/>
          <p:cNvSpPr/>
          <p:nvPr/>
        </p:nvSpPr>
        <p:spPr>
          <a:xfrm>
            <a:off x="320039" y="868680"/>
            <a:ext cx="2651762" cy="3108961"/>
          </a:xfrm>
          <a:prstGeom prst="rect">
            <a:avLst/>
          </a:prstGeom>
          <a:solidFill>
            <a:srgbClr val="FADBD8"/>
          </a:solidFill>
          <a:ln w="19050">
            <a:solidFill>
              <a:srgbClr val="C0392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7" name="Shape 3"/>
          <p:cNvSpPr/>
          <p:nvPr/>
        </p:nvSpPr>
        <p:spPr>
          <a:xfrm>
            <a:off x="320039" y="868680"/>
            <a:ext cx="2651762" cy="347473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8" name="Text 4"/>
          <p:cNvSpPr txBox="1"/>
          <p:nvPr/>
        </p:nvSpPr>
        <p:spPr>
          <a:xfrm>
            <a:off x="320039" y="975282"/>
            <a:ext cx="2651762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100">
                <a:solidFill>
                  <a:srgbClr val="FFFFFF"/>
                </a:solidFill>
              </a:defRPr>
            </a:lvl1pPr>
          </a:lstStyle>
          <a:p>
            <a:pPr/>
            <a:r>
              <a:t>DISCOM Monopoly</a:t>
            </a:r>
          </a:p>
        </p:txBody>
      </p:sp>
      <p:sp>
        <p:nvSpPr>
          <p:cNvPr id="29" name="Text 5"/>
          <p:cNvSpPr txBox="1"/>
          <p:nvPr/>
        </p:nvSpPr>
        <p:spPr>
          <a:xfrm>
            <a:off x="475487" y="1298447"/>
            <a:ext cx="2331722" cy="8678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300">
                <a:solidFill>
                  <a:srgbClr val="374151"/>
                </a:solidFill>
              </a:defRPr>
            </a:lvl1pPr>
          </a:lstStyle>
          <a:p>
            <a:pPr/>
            <a:r>
              <a:t>Small solar producers are forced to sell surplus to DISCOMs at ₹2–3/unit. No open market. No choice.</a:t>
            </a:r>
          </a:p>
        </p:txBody>
      </p:sp>
      <p:sp>
        <p:nvSpPr>
          <p:cNvPr id="30" name="Shape 6"/>
          <p:cNvSpPr/>
          <p:nvPr/>
        </p:nvSpPr>
        <p:spPr>
          <a:xfrm>
            <a:off x="3200400" y="868680"/>
            <a:ext cx="2651761" cy="3108961"/>
          </a:xfrm>
          <a:prstGeom prst="rect">
            <a:avLst/>
          </a:prstGeom>
          <a:solidFill>
            <a:srgbClr val="FEF3C7"/>
          </a:solidFill>
          <a:ln w="19050">
            <a:solidFill>
              <a:srgbClr val="B7770D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1" name="Shape 7"/>
          <p:cNvSpPr/>
          <p:nvPr/>
        </p:nvSpPr>
        <p:spPr>
          <a:xfrm>
            <a:off x="3200400" y="868680"/>
            <a:ext cx="2651761" cy="347473"/>
          </a:xfrm>
          <a:prstGeom prst="rect">
            <a:avLst/>
          </a:prstGeom>
          <a:solidFill>
            <a:srgbClr val="B7770D"/>
          </a:solidFill>
          <a:ln w="12700">
            <a:solidFill>
              <a:srgbClr val="B7770D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2" name="Text 8"/>
          <p:cNvSpPr txBox="1"/>
          <p:nvPr/>
        </p:nvSpPr>
        <p:spPr>
          <a:xfrm>
            <a:off x="3200400" y="975282"/>
            <a:ext cx="2651761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100">
                <a:solidFill>
                  <a:srgbClr val="FFFFFF"/>
                </a:solidFill>
              </a:defRPr>
            </a:lvl1pPr>
          </a:lstStyle>
          <a:p>
            <a:pPr/>
            <a:r>
              <a:t>Wasted Surplus Energy</a:t>
            </a:r>
          </a:p>
        </p:txBody>
      </p:sp>
      <p:sp>
        <p:nvSpPr>
          <p:cNvPr id="33" name="Text 9"/>
          <p:cNvSpPr txBox="1"/>
          <p:nvPr/>
        </p:nvSpPr>
        <p:spPr>
          <a:xfrm>
            <a:off x="3355848" y="1298447"/>
            <a:ext cx="2331721" cy="6646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300">
                <a:solidFill>
                  <a:srgbClr val="374151"/>
                </a:solidFill>
              </a:defRPr>
            </a:lvl1pPr>
          </a:lstStyle>
          <a:p>
            <a:pPr/>
            <a:r>
              <a:t>During peak solar hours, excess energy is curtailed and wasted. No real-time outlet to sell locally.</a:t>
            </a:r>
          </a:p>
        </p:txBody>
      </p:sp>
      <p:sp>
        <p:nvSpPr>
          <p:cNvPr id="34" name="Shape 10"/>
          <p:cNvSpPr/>
          <p:nvPr/>
        </p:nvSpPr>
        <p:spPr>
          <a:xfrm>
            <a:off x="6080759" y="868680"/>
            <a:ext cx="2651761" cy="3108961"/>
          </a:xfrm>
          <a:prstGeom prst="rect">
            <a:avLst/>
          </a:prstGeom>
          <a:solidFill>
            <a:srgbClr val="D6EFE0"/>
          </a:solidFill>
          <a:ln w="19050">
            <a:solidFill>
              <a:srgbClr val="2E7D4F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5" name="Shape 11"/>
          <p:cNvSpPr/>
          <p:nvPr/>
        </p:nvSpPr>
        <p:spPr>
          <a:xfrm>
            <a:off x="6080759" y="868680"/>
            <a:ext cx="2651761" cy="347473"/>
          </a:xfrm>
          <a:prstGeom prst="rect">
            <a:avLst/>
          </a:prstGeom>
          <a:solidFill>
            <a:srgbClr val="2E7D4F"/>
          </a:solidFill>
          <a:ln w="12700">
            <a:solidFill>
              <a:srgbClr val="2E7D4F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6" name="Text 12"/>
          <p:cNvSpPr txBox="1"/>
          <p:nvPr/>
        </p:nvSpPr>
        <p:spPr>
          <a:xfrm>
            <a:off x="6080759" y="975282"/>
            <a:ext cx="2651761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100">
                <a:solidFill>
                  <a:srgbClr val="FFFFFF"/>
                </a:solidFill>
              </a:defRPr>
            </a:lvl1pPr>
          </a:lstStyle>
          <a:p>
            <a:pPr/>
            <a:r>
              <a:t>No P2P Channel</a:t>
            </a:r>
          </a:p>
        </p:txBody>
      </p:sp>
      <p:sp>
        <p:nvSpPr>
          <p:cNvPr id="37" name="Text 13"/>
          <p:cNvSpPr txBox="1"/>
          <p:nvPr/>
        </p:nvSpPr>
        <p:spPr>
          <a:xfrm>
            <a:off x="6236208" y="1298447"/>
            <a:ext cx="2331721" cy="8678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300">
                <a:solidFill>
                  <a:srgbClr val="374151"/>
                </a:solidFill>
              </a:defRPr>
            </a:lvl1pPr>
          </a:lstStyle>
          <a:p>
            <a:pPr/>
            <a:r>
              <a:t>A factory 500m from a solar farm still pays full grid tariff. No platform connects producers &amp; consumers directly.</a:t>
            </a:r>
          </a:p>
        </p:txBody>
      </p:sp>
      <p:sp>
        <p:nvSpPr>
          <p:cNvPr id="38" name="Shape 14"/>
          <p:cNvSpPr/>
          <p:nvPr/>
        </p:nvSpPr>
        <p:spPr>
          <a:xfrm>
            <a:off x="320040" y="4206240"/>
            <a:ext cx="8503920" cy="685801"/>
          </a:xfrm>
          <a:prstGeom prst="rect">
            <a:avLst/>
          </a:prstGeom>
          <a:solidFill>
            <a:srgbClr val="EAF1FB"/>
          </a:solidFill>
          <a:ln w="12700">
            <a:solidFill>
              <a:srgbClr val="EAF1F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9" name="Text 15"/>
          <p:cNvSpPr txBox="1"/>
          <p:nvPr/>
        </p:nvSpPr>
        <p:spPr>
          <a:xfrm>
            <a:off x="502919" y="4349164"/>
            <a:ext cx="2651762" cy="3908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100">
                <a:solidFill>
                  <a:srgbClr val="1A3A5C"/>
                </a:solidFill>
              </a:defRPr>
            </a:lvl1pPr>
          </a:lstStyle>
          <a:p>
            <a:pPr/>
            <a:r>
              <a:t>₹2–3/unit  →  Net metering rate paid to producers</a:t>
            </a:r>
          </a:p>
        </p:txBody>
      </p:sp>
      <p:sp>
        <p:nvSpPr>
          <p:cNvPr id="40" name="Text 16"/>
          <p:cNvSpPr txBox="1"/>
          <p:nvPr/>
        </p:nvSpPr>
        <p:spPr>
          <a:xfrm>
            <a:off x="3337560" y="4431714"/>
            <a:ext cx="2651761" cy="2257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100">
                <a:solidFill>
                  <a:srgbClr val="1A3A5C"/>
                </a:solidFill>
              </a:defRPr>
            </a:lvl1pPr>
          </a:lstStyle>
          <a:p>
            <a:pPr/>
            <a:r>
              <a:t>20–25%  →  Avg. T&amp;D losses in India's grid</a:t>
            </a:r>
          </a:p>
        </p:txBody>
      </p:sp>
      <p:sp>
        <p:nvSpPr>
          <p:cNvPr id="41" name="Text 17"/>
          <p:cNvSpPr txBox="1"/>
          <p:nvPr/>
        </p:nvSpPr>
        <p:spPr>
          <a:xfrm>
            <a:off x="6172200" y="4349164"/>
            <a:ext cx="2651761" cy="3908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100">
                <a:solidFill>
                  <a:srgbClr val="1A3A5C"/>
                </a:solidFill>
              </a:defRPr>
            </a:lvl1pPr>
          </a:lstStyle>
          <a:p>
            <a:pPr/>
            <a:r>
              <a:t>₹6 lakh cr  →  DISCOM accumulated losses (2023)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Text 0"/>
          <p:cNvSpPr txBox="1"/>
          <p:nvPr/>
        </p:nvSpPr>
        <p:spPr>
          <a:xfrm>
            <a:off x="457200" y="265536"/>
            <a:ext cx="8229600" cy="3010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400">
                <a:solidFill>
                  <a:srgbClr val="1A3A5C"/>
                </a:solidFill>
              </a:defRPr>
            </a:lvl1pPr>
          </a:lstStyle>
          <a:p>
            <a:pPr/>
            <a:r>
              <a:t>02  |  Current Status in India</a:t>
            </a:r>
          </a:p>
        </p:txBody>
      </p:sp>
      <p:sp>
        <p:nvSpPr>
          <p:cNvPr id="44" name="Shape 1"/>
          <p:cNvSpPr/>
          <p:nvPr/>
        </p:nvSpPr>
        <p:spPr>
          <a:xfrm>
            <a:off x="457200" y="713231"/>
            <a:ext cx="8229600" cy="1"/>
          </a:xfrm>
          <a:prstGeom prst="line">
            <a:avLst/>
          </a:prstGeom>
          <a:ln w="25400">
            <a:solidFill>
              <a:srgbClr val="2E7D4F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5" name="Text 2"/>
          <p:cNvSpPr txBox="1"/>
          <p:nvPr/>
        </p:nvSpPr>
        <p:spPr>
          <a:xfrm>
            <a:off x="411480" y="913315"/>
            <a:ext cx="3749040" cy="2582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300">
                <a:solidFill>
                  <a:srgbClr val="1A3A5C"/>
                </a:solidFill>
              </a:defRPr>
            </a:lvl1pPr>
          </a:lstStyle>
          <a:p>
            <a:pPr/>
            <a:r>
              <a:t>How It Works Today</a:t>
            </a:r>
          </a:p>
        </p:txBody>
      </p:sp>
      <p:sp>
        <p:nvSpPr>
          <p:cNvPr id="46" name="Shape 3"/>
          <p:cNvSpPr/>
          <p:nvPr/>
        </p:nvSpPr>
        <p:spPr>
          <a:xfrm>
            <a:off x="365759" y="1325880"/>
            <a:ext cx="3931922" cy="475488"/>
          </a:xfrm>
          <a:prstGeom prst="rect">
            <a:avLst/>
          </a:prstGeom>
          <a:solidFill>
            <a:srgbClr val="EAF1FB"/>
          </a:solidFill>
          <a:ln w="12700">
            <a:solidFill>
              <a:srgbClr val="E5E7E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7" name="Text 4"/>
          <p:cNvSpPr txBox="1"/>
          <p:nvPr/>
        </p:nvSpPr>
        <p:spPr>
          <a:xfrm>
            <a:off x="548639" y="1450769"/>
            <a:ext cx="3657601" cy="2257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100">
                <a:solidFill>
                  <a:srgbClr val="374151"/>
                </a:solidFill>
              </a:defRPr>
            </a:lvl1pPr>
          </a:lstStyle>
          <a:p>
            <a:pPr/>
            <a:r>
              <a:t>Large Power Plants (Coal, Hydro, Solar Farms)</a:t>
            </a:r>
          </a:p>
        </p:txBody>
      </p:sp>
      <p:sp>
        <p:nvSpPr>
          <p:cNvPr id="48" name="Text 5"/>
          <p:cNvSpPr txBox="1"/>
          <p:nvPr/>
        </p:nvSpPr>
        <p:spPr>
          <a:xfrm>
            <a:off x="2057400" y="1779269"/>
            <a:ext cx="365760" cy="281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200">
                <a:solidFill>
                  <a:srgbClr val="2E7D4F"/>
                </a:solidFill>
              </a:defRPr>
            </a:lvl1pPr>
          </a:lstStyle>
          <a:p>
            <a:pPr/>
            <a:r>
              <a:t>▼</a:t>
            </a:r>
          </a:p>
        </p:txBody>
      </p:sp>
      <p:sp>
        <p:nvSpPr>
          <p:cNvPr id="49" name="Shape 6"/>
          <p:cNvSpPr/>
          <p:nvPr/>
        </p:nvSpPr>
        <p:spPr>
          <a:xfrm>
            <a:off x="365759" y="2075688"/>
            <a:ext cx="3931922" cy="475488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0" name="Text 7"/>
          <p:cNvSpPr txBox="1"/>
          <p:nvPr/>
        </p:nvSpPr>
        <p:spPr>
          <a:xfrm>
            <a:off x="548639" y="2200577"/>
            <a:ext cx="3657601" cy="2257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100">
                <a:solidFill>
                  <a:srgbClr val="374151"/>
                </a:solidFill>
              </a:defRPr>
            </a:lvl1pPr>
          </a:lstStyle>
          <a:p>
            <a:pPr/>
            <a:r>
              <a:t>State / National Grid (High Voltage Transmission)</a:t>
            </a:r>
          </a:p>
        </p:txBody>
      </p:sp>
      <p:sp>
        <p:nvSpPr>
          <p:cNvPr id="51" name="Text 8"/>
          <p:cNvSpPr txBox="1"/>
          <p:nvPr/>
        </p:nvSpPr>
        <p:spPr>
          <a:xfrm>
            <a:off x="2057400" y="2529078"/>
            <a:ext cx="365760" cy="281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200">
                <a:solidFill>
                  <a:srgbClr val="2E7D4F"/>
                </a:solidFill>
              </a:defRPr>
            </a:lvl1pPr>
          </a:lstStyle>
          <a:p>
            <a:pPr/>
            <a:r>
              <a:t>▼</a:t>
            </a:r>
          </a:p>
        </p:txBody>
      </p:sp>
      <p:sp>
        <p:nvSpPr>
          <p:cNvPr id="52" name="Shape 9"/>
          <p:cNvSpPr/>
          <p:nvPr/>
        </p:nvSpPr>
        <p:spPr>
          <a:xfrm>
            <a:off x="365759" y="2825495"/>
            <a:ext cx="3931922" cy="475488"/>
          </a:xfrm>
          <a:prstGeom prst="rect">
            <a:avLst/>
          </a:prstGeom>
          <a:solidFill>
            <a:srgbClr val="EAF1FB"/>
          </a:solidFill>
          <a:ln w="12700">
            <a:solidFill>
              <a:srgbClr val="E5E7E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3" name="Text 10"/>
          <p:cNvSpPr txBox="1"/>
          <p:nvPr/>
        </p:nvSpPr>
        <p:spPr>
          <a:xfrm>
            <a:off x="548639" y="2950385"/>
            <a:ext cx="3657601" cy="2257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100">
                <a:solidFill>
                  <a:srgbClr val="374151"/>
                </a:solidFill>
              </a:defRPr>
            </a:lvl1pPr>
          </a:lstStyle>
          <a:p>
            <a:pPr/>
            <a:r>
              <a:t>DISCOMs — Tata Power, BSES, MSEDCL, BESCOM</a:t>
            </a:r>
          </a:p>
        </p:txBody>
      </p:sp>
      <p:sp>
        <p:nvSpPr>
          <p:cNvPr id="54" name="Text 11"/>
          <p:cNvSpPr txBox="1"/>
          <p:nvPr/>
        </p:nvSpPr>
        <p:spPr>
          <a:xfrm>
            <a:off x="2057400" y="3278886"/>
            <a:ext cx="365760" cy="281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200">
                <a:solidFill>
                  <a:srgbClr val="2E7D4F"/>
                </a:solidFill>
              </a:defRPr>
            </a:lvl1pPr>
          </a:lstStyle>
          <a:p>
            <a:pPr/>
            <a:r>
              <a:t>▼</a:t>
            </a:r>
          </a:p>
        </p:txBody>
      </p:sp>
      <p:sp>
        <p:nvSpPr>
          <p:cNvPr id="55" name="Shape 12"/>
          <p:cNvSpPr/>
          <p:nvPr/>
        </p:nvSpPr>
        <p:spPr>
          <a:xfrm>
            <a:off x="365759" y="3575303"/>
            <a:ext cx="3931922" cy="475488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6" name="Text 13"/>
          <p:cNvSpPr txBox="1"/>
          <p:nvPr/>
        </p:nvSpPr>
        <p:spPr>
          <a:xfrm>
            <a:off x="548639" y="3700193"/>
            <a:ext cx="3657601" cy="2257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100">
                <a:solidFill>
                  <a:srgbClr val="374151"/>
                </a:solidFill>
              </a:defRPr>
            </a:lvl1pPr>
          </a:lstStyle>
          <a:p>
            <a:pPr/>
            <a:r>
              <a:t>End Consumer (You pay ₹8–10/unit)</a:t>
            </a:r>
          </a:p>
        </p:txBody>
      </p:sp>
      <p:sp>
        <p:nvSpPr>
          <p:cNvPr id="57" name="Text 14"/>
          <p:cNvSpPr txBox="1"/>
          <p:nvPr/>
        </p:nvSpPr>
        <p:spPr>
          <a:xfrm>
            <a:off x="4617720" y="913315"/>
            <a:ext cx="4023360" cy="2582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300">
                <a:solidFill>
                  <a:srgbClr val="1A3A5C"/>
                </a:solidFill>
              </a:defRPr>
            </a:lvl1pPr>
          </a:lstStyle>
          <a:p>
            <a:pPr/>
            <a:r>
              <a:t>Indian Pilots &amp; Policies</a:t>
            </a:r>
          </a:p>
        </p:txBody>
      </p:sp>
      <p:sp>
        <p:nvSpPr>
          <p:cNvPr id="58" name="Shape 15"/>
          <p:cNvSpPr/>
          <p:nvPr/>
        </p:nvSpPr>
        <p:spPr>
          <a:xfrm>
            <a:off x="4572000" y="1325880"/>
            <a:ext cx="4114800" cy="566929"/>
          </a:xfrm>
          <a:prstGeom prst="rect">
            <a:avLst/>
          </a:prstGeom>
          <a:solidFill>
            <a:srgbClr val="FEF3C7"/>
          </a:solidFill>
          <a:ln w="12700">
            <a:solidFill>
              <a:srgbClr val="B7770D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9" name="Text 16"/>
          <p:cNvSpPr txBox="1"/>
          <p:nvPr/>
        </p:nvSpPr>
        <p:spPr>
          <a:xfrm>
            <a:off x="4727448" y="1359330"/>
            <a:ext cx="2834641" cy="2257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100">
                <a:solidFill>
                  <a:srgbClr val="1A3A5C"/>
                </a:solidFill>
              </a:defRPr>
            </a:lvl1pPr>
          </a:lstStyle>
          <a:p>
            <a:pPr/>
            <a:r>
              <a:t>UPPCL P2P Pilot</a:t>
            </a:r>
          </a:p>
        </p:txBody>
      </p:sp>
      <p:sp>
        <p:nvSpPr>
          <p:cNvPr id="60" name="Text 17"/>
          <p:cNvSpPr txBox="1"/>
          <p:nvPr/>
        </p:nvSpPr>
        <p:spPr>
          <a:xfrm>
            <a:off x="4727448" y="1609344"/>
            <a:ext cx="2834641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/>
            <a:r>
              <a:t>20 prosumers in Lucknow, 2022–23. Not public-facing.</a:t>
            </a:r>
          </a:p>
        </p:txBody>
      </p:sp>
      <p:sp>
        <p:nvSpPr>
          <p:cNvPr id="61" name="Shape 18"/>
          <p:cNvSpPr/>
          <p:nvPr/>
        </p:nvSpPr>
        <p:spPr>
          <a:xfrm>
            <a:off x="7662671" y="1389888"/>
            <a:ext cx="841249" cy="201169"/>
          </a:xfrm>
          <a:prstGeom prst="rect">
            <a:avLst/>
          </a:prstGeom>
          <a:solidFill>
            <a:srgbClr val="B7770D"/>
          </a:solidFill>
          <a:ln w="12700">
            <a:solidFill>
              <a:srgbClr val="B7770D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62" name="Text 19"/>
          <p:cNvSpPr txBox="1"/>
          <p:nvPr/>
        </p:nvSpPr>
        <p:spPr>
          <a:xfrm>
            <a:off x="7662671" y="1426972"/>
            <a:ext cx="841249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800">
                <a:solidFill>
                  <a:srgbClr val="FFFFFF"/>
                </a:solidFill>
              </a:defRPr>
            </a:lvl1pPr>
          </a:lstStyle>
          <a:p>
            <a:pPr/>
            <a:r>
              <a:t>LIMITED</a:t>
            </a:r>
          </a:p>
        </p:txBody>
      </p:sp>
      <p:sp>
        <p:nvSpPr>
          <p:cNvPr id="63" name="Shape 20"/>
          <p:cNvSpPr/>
          <p:nvPr/>
        </p:nvSpPr>
        <p:spPr>
          <a:xfrm>
            <a:off x="4572000" y="2075688"/>
            <a:ext cx="4114800" cy="566929"/>
          </a:xfrm>
          <a:prstGeom prst="rect">
            <a:avLst/>
          </a:prstGeom>
          <a:solidFill>
            <a:srgbClr val="FADBD8"/>
          </a:solidFill>
          <a:ln w="12700">
            <a:solidFill>
              <a:srgbClr val="C0392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64" name="Text 21"/>
          <p:cNvSpPr txBox="1"/>
          <p:nvPr/>
        </p:nvSpPr>
        <p:spPr>
          <a:xfrm>
            <a:off x="4727448" y="2109138"/>
            <a:ext cx="2834641" cy="2257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100">
                <a:solidFill>
                  <a:srgbClr val="1A3A5C"/>
                </a:solidFill>
              </a:defRPr>
            </a:lvl1pPr>
          </a:lstStyle>
          <a:p>
            <a:pPr/>
            <a:r>
              <a:t>Tata Power Solar Trading</a:t>
            </a:r>
          </a:p>
        </p:txBody>
      </p:sp>
      <p:sp>
        <p:nvSpPr>
          <p:cNvPr id="65" name="Text 22"/>
          <p:cNvSpPr txBox="1"/>
          <p:nvPr/>
        </p:nvSpPr>
        <p:spPr>
          <a:xfrm>
            <a:off x="4727448" y="2359151"/>
            <a:ext cx="2834641" cy="2059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/>
            <a:r>
              <a:t>Only for Tata Power Mumbai customers. Closed ecosystem.</a:t>
            </a:r>
          </a:p>
        </p:txBody>
      </p:sp>
      <p:sp>
        <p:nvSpPr>
          <p:cNvPr id="66" name="Shape 23"/>
          <p:cNvSpPr/>
          <p:nvPr/>
        </p:nvSpPr>
        <p:spPr>
          <a:xfrm>
            <a:off x="7662671" y="2139695"/>
            <a:ext cx="841249" cy="201169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67" name="Text 24"/>
          <p:cNvSpPr txBox="1"/>
          <p:nvPr/>
        </p:nvSpPr>
        <p:spPr>
          <a:xfrm>
            <a:off x="7662671" y="2176779"/>
            <a:ext cx="841249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800">
                <a:solidFill>
                  <a:srgbClr val="FFFFFF"/>
                </a:solidFill>
              </a:defRPr>
            </a:lvl1pPr>
          </a:lstStyle>
          <a:p>
            <a:pPr/>
            <a:r>
              <a:t>CLOSED</a:t>
            </a:r>
          </a:p>
        </p:txBody>
      </p:sp>
      <p:sp>
        <p:nvSpPr>
          <p:cNvPr id="68" name="Shape 25"/>
          <p:cNvSpPr/>
          <p:nvPr/>
        </p:nvSpPr>
        <p:spPr>
          <a:xfrm>
            <a:off x="4572000" y="2825495"/>
            <a:ext cx="4114800" cy="566929"/>
          </a:xfrm>
          <a:prstGeom prst="rect">
            <a:avLst/>
          </a:prstGeom>
          <a:solidFill>
            <a:srgbClr val="EAF1FB"/>
          </a:solidFill>
          <a:ln w="12700">
            <a:solidFill>
              <a:srgbClr val="1A3A5C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69" name="Text 26"/>
          <p:cNvSpPr txBox="1"/>
          <p:nvPr/>
        </p:nvSpPr>
        <p:spPr>
          <a:xfrm>
            <a:off x="4727448" y="2858946"/>
            <a:ext cx="2834641" cy="2257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100">
                <a:solidFill>
                  <a:srgbClr val="1A3A5C"/>
                </a:solidFill>
              </a:defRPr>
            </a:lvl1pPr>
          </a:lstStyle>
          <a:p>
            <a:pPr/>
            <a:r>
              <a:t>CERC P2P Draft Regulations</a:t>
            </a:r>
          </a:p>
        </p:txBody>
      </p:sp>
      <p:sp>
        <p:nvSpPr>
          <p:cNvPr id="70" name="Text 27"/>
          <p:cNvSpPr txBox="1"/>
          <p:nvPr/>
        </p:nvSpPr>
        <p:spPr>
          <a:xfrm>
            <a:off x="4727448" y="3108960"/>
            <a:ext cx="2834641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/>
            <a:r>
              <a:t>Published 2023. Final rules pending. Legal basis for P2P.</a:t>
            </a:r>
          </a:p>
        </p:txBody>
      </p:sp>
      <p:sp>
        <p:nvSpPr>
          <p:cNvPr id="71" name="Shape 28"/>
          <p:cNvSpPr/>
          <p:nvPr/>
        </p:nvSpPr>
        <p:spPr>
          <a:xfrm>
            <a:off x="7662671" y="2889504"/>
            <a:ext cx="841249" cy="201169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72" name="Text 29"/>
          <p:cNvSpPr txBox="1"/>
          <p:nvPr/>
        </p:nvSpPr>
        <p:spPr>
          <a:xfrm>
            <a:off x="7662671" y="2926588"/>
            <a:ext cx="841249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800">
                <a:solidFill>
                  <a:srgbClr val="FFFFFF"/>
                </a:solidFill>
              </a:defRPr>
            </a:lvl1pPr>
          </a:lstStyle>
          <a:p>
            <a:pPr/>
            <a:r>
              <a:t>PENDING</a:t>
            </a:r>
          </a:p>
        </p:txBody>
      </p:sp>
      <p:sp>
        <p:nvSpPr>
          <p:cNvPr id="73" name="Shape 30"/>
          <p:cNvSpPr/>
          <p:nvPr/>
        </p:nvSpPr>
        <p:spPr>
          <a:xfrm>
            <a:off x="4572000" y="3575303"/>
            <a:ext cx="4114800" cy="566929"/>
          </a:xfrm>
          <a:prstGeom prst="rect">
            <a:avLst/>
          </a:prstGeom>
          <a:solidFill>
            <a:srgbClr val="D6EFE0"/>
          </a:solidFill>
          <a:ln w="12700">
            <a:solidFill>
              <a:srgbClr val="2E7D4F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74" name="Text 31"/>
          <p:cNvSpPr txBox="1"/>
          <p:nvPr/>
        </p:nvSpPr>
        <p:spPr>
          <a:xfrm>
            <a:off x="4727448" y="3608753"/>
            <a:ext cx="2834641" cy="2257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100">
                <a:solidFill>
                  <a:srgbClr val="1A3A5C"/>
                </a:solidFill>
              </a:defRPr>
            </a:lvl1pPr>
          </a:lstStyle>
          <a:p>
            <a:pPr/>
            <a:r>
              <a:t>PM Surya Ghar Yojana</a:t>
            </a:r>
          </a:p>
        </p:txBody>
      </p:sp>
      <p:sp>
        <p:nvSpPr>
          <p:cNvPr id="75" name="Text 32"/>
          <p:cNvSpPr txBox="1"/>
          <p:nvPr/>
        </p:nvSpPr>
        <p:spPr>
          <a:xfrm>
            <a:off x="4727448" y="3858767"/>
            <a:ext cx="2834641" cy="2059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/>
            <a:r>
              <a:t>1 crore households targeted for free rooftop solar by 2026.</a:t>
            </a:r>
          </a:p>
        </p:txBody>
      </p:sp>
      <p:sp>
        <p:nvSpPr>
          <p:cNvPr id="76" name="Shape 33"/>
          <p:cNvSpPr/>
          <p:nvPr/>
        </p:nvSpPr>
        <p:spPr>
          <a:xfrm>
            <a:off x="7662671" y="3639311"/>
            <a:ext cx="841249" cy="201169"/>
          </a:xfrm>
          <a:prstGeom prst="rect">
            <a:avLst/>
          </a:prstGeom>
          <a:solidFill>
            <a:srgbClr val="2E7D4F"/>
          </a:solidFill>
          <a:ln w="12700">
            <a:solidFill>
              <a:srgbClr val="2E7D4F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77" name="Text 34"/>
          <p:cNvSpPr txBox="1"/>
          <p:nvPr/>
        </p:nvSpPr>
        <p:spPr>
          <a:xfrm>
            <a:off x="7662671" y="3676396"/>
            <a:ext cx="841249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800">
                <a:solidFill>
                  <a:srgbClr val="FFFFFF"/>
                </a:solidFill>
              </a:defRPr>
            </a:lvl1pPr>
          </a:lstStyle>
          <a:p>
            <a:pPr/>
            <a:r>
              <a:t>ACTIVE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Text 0"/>
          <p:cNvSpPr txBox="1"/>
          <p:nvPr/>
        </p:nvSpPr>
        <p:spPr>
          <a:xfrm>
            <a:off x="457200" y="265536"/>
            <a:ext cx="8229600" cy="3010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400">
                <a:solidFill>
                  <a:srgbClr val="1A3A5C"/>
                </a:solidFill>
              </a:defRPr>
            </a:lvl1pPr>
          </a:lstStyle>
          <a:p>
            <a:pPr/>
            <a:r>
              <a:t>03  |  Domain</a:t>
            </a:r>
          </a:p>
        </p:txBody>
      </p:sp>
      <p:sp>
        <p:nvSpPr>
          <p:cNvPr id="80" name="Shape 1"/>
          <p:cNvSpPr/>
          <p:nvPr/>
        </p:nvSpPr>
        <p:spPr>
          <a:xfrm>
            <a:off x="457200" y="713231"/>
            <a:ext cx="8229600" cy="1"/>
          </a:xfrm>
          <a:prstGeom prst="line">
            <a:avLst/>
          </a:prstGeom>
          <a:ln w="25400">
            <a:solidFill>
              <a:srgbClr val="2E7D4F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81" name="Shape 2"/>
          <p:cNvSpPr/>
          <p:nvPr/>
        </p:nvSpPr>
        <p:spPr>
          <a:xfrm>
            <a:off x="320040" y="868680"/>
            <a:ext cx="2606040" cy="1463041"/>
          </a:xfrm>
          <a:prstGeom prst="rect">
            <a:avLst/>
          </a:prstGeom>
          <a:solidFill>
            <a:srgbClr val="F7F8FA"/>
          </a:solidFill>
          <a:ln w="12700">
            <a:solidFill>
              <a:srgbClr val="E5E7E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82" name="Shape 3"/>
          <p:cNvSpPr/>
          <p:nvPr/>
        </p:nvSpPr>
        <p:spPr>
          <a:xfrm>
            <a:off x="320040" y="868680"/>
            <a:ext cx="109729" cy="1463041"/>
          </a:xfrm>
          <a:prstGeom prst="rect">
            <a:avLst/>
          </a:prstGeom>
          <a:solidFill>
            <a:srgbClr val="2E7D4F"/>
          </a:solidFill>
          <a:ln w="12700">
            <a:solidFill>
              <a:srgbClr val="2E7D4F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83" name="Text 4"/>
          <p:cNvSpPr txBox="1"/>
          <p:nvPr/>
        </p:nvSpPr>
        <p:spPr>
          <a:xfrm>
            <a:off x="566927" y="1021002"/>
            <a:ext cx="2240282" cy="2257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100">
                <a:solidFill>
                  <a:srgbClr val="1A3A5C"/>
                </a:solidFill>
              </a:defRPr>
            </a:lvl1pPr>
          </a:lstStyle>
          <a:p>
            <a:pPr/>
            <a:r>
              <a:t>Renewable Energy Systems</a:t>
            </a:r>
          </a:p>
        </p:txBody>
      </p:sp>
      <p:sp>
        <p:nvSpPr>
          <p:cNvPr id="84" name="Text 5"/>
          <p:cNvSpPr txBox="1"/>
          <p:nvPr/>
        </p:nvSpPr>
        <p:spPr>
          <a:xfrm>
            <a:off x="566927" y="1503724"/>
            <a:ext cx="2240282" cy="5587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000">
                <a:solidFill>
                  <a:srgbClr val="374151"/>
                </a:solidFill>
              </a:defRPr>
            </a:lvl1pPr>
          </a:lstStyle>
          <a:p>
            <a:pPr/>
            <a:r>
              <a:t>Solar PV, wind micro-turbines, biogas plants, battery storage — the production infrastructure.</a:t>
            </a:r>
          </a:p>
        </p:txBody>
      </p:sp>
      <p:sp>
        <p:nvSpPr>
          <p:cNvPr id="85" name="Shape 6"/>
          <p:cNvSpPr/>
          <p:nvPr/>
        </p:nvSpPr>
        <p:spPr>
          <a:xfrm>
            <a:off x="3154679" y="868680"/>
            <a:ext cx="2606041" cy="1463041"/>
          </a:xfrm>
          <a:prstGeom prst="rect">
            <a:avLst/>
          </a:prstGeom>
          <a:solidFill>
            <a:srgbClr val="F7F8FA"/>
          </a:solidFill>
          <a:ln w="12700">
            <a:solidFill>
              <a:srgbClr val="E5E7E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86" name="Shape 7"/>
          <p:cNvSpPr/>
          <p:nvPr/>
        </p:nvSpPr>
        <p:spPr>
          <a:xfrm>
            <a:off x="3154679" y="868680"/>
            <a:ext cx="109729" cy="1463041"/>
          </a:xfrm>
          <a:prstGeom prst="rect">
            <a:avLst/>
          </a:prstGeom>
          <a:solidFill>
            <a:srgbClr val="2E7D4F"/>
          </a:solidFill>
          <a:ln w="12700">
            <a:solidFill>
              <a:srgbClr val="2E7D4F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87" name="Text 8"/>
          <p:cNvSpPr txBox="1"/>
          <p:nvPr/>
        </p:nvSpPr>
        <p:spPr>
          <a:xfrm>
            <a:off x="3401567" y="1021002"/>
            <a:ext cx="2240282" cy="2257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100">
                <a:solidFill>
                  <a:srgbClr val="1A3A5C"/>
                </a:solidFill>
              </a:defRPr>
            </a:lvl1pPr>
          </a:lstStyle>
          <a:p>
            <a:pPr/>
            <a:r>
              <a:t>Digital Marketplace Platforms</a:t>
            </a:r>
          </a:p>
        </p:txBody>
      </p:sp>
      <p:sp>
        <p:nvSpPr>
          <p:cNvPr id="88" name="Text 9"/>
          <p:cNvSpPr txBox="1"/>
          <p:nvPr/>
        </p:nvSpPr>
        <p:spPr>
          <a:xfrm>
            <a:off x="3401567" y="1503724"/>
            <a:ext cx="2240282" cy="5587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000">
                <a:solidFill>
                  <a:srgbClr val="374151"/>
                </a:solidFill>
              </a:defRPr>
            </a:lvl1pPr>
          </a:lstStyle>
          <a:p>
            <a:pPr/>
            <a:r>
              <a:t>Real-time bidding, dynamic pricing, wallets, escrow. Think Zepto/OLX but for energy units.</a:t>
            </a:r>
          </a:p>
        </p:txBody>
      </p:sp>
      <p:sp>
        <p:nvSpPr>
          <p:cNvPr id="89" name="Shape 10"/>
          <p:cNvSpPr/>
          <p:nvPr/>
        </p:nvSpPr>
        <p:spPr>
          <a:xfrm>
            <a:off x="5989320" y="868680"/>
            <a:ext cx="2606041" cy="1463041"/>
          </a:xfrm>
          <a:prstGeom prst="rect">
            <a:avLst/>
          </a:prstGeom>
          <a:solidFill>
            <a:srgbClr val="F7F8FA"/>
          </a:solidFill>
          <a:ln w="12700">
            <a:solidFill>
              <a:srgbClr val="E5E7E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90" name="Shape 11"/>
          <p:cNvSpPr/>
          <p:nvPr/>
        </p:nvSpPr>
        <p:spPr>
          <a:xfrm>
            <a:off x="5989320" y="868680"/>
            <a:ext cx="109729" cy="1463041"/>
          </a:xfrm>
          <a:prstGeom prst="rect">
            <a:avLst/>
          </a:prstGeom>
          <a:solidFill>
            <a:srgbClr val="2E7D4F"/>
          </a:solidFill>
          <a:ln w="12700">
            <a:solidFill>
              <a:srgbClr val="2E7D4F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91" name="Text 12"/>
          <p:cNvSpPr txBox="1"/>
          <p:nvPr/>
        </p:nvSpPr>
        <p:spPr>
          <a:xfrm>
            <a:off x="6236208" y="1021002"/>
            <a:ext cx="2240281" cy="2257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100">
                <a:solidFill>
                  <a:srgbClr val="1A3A5C"/>
                </a:solidFill>
              </a:defRPr>
            </a:lvl1pPr>
          </a:lstStyle>
          <a:p>
            <a:pPr/>
            <a:r>
              <a:t>Smart Grid &amp; IoT</a:t>
            </a:r>
          </a:p>
        </p:txBody>
      </p:sp>
      <p:sp>
        <p:nvSpPr>
          <p:cNvPr id="92" name="Text 13"/>
          <p:cNvSpPr txBox="1"/>
          <p:nvPr/>
        </p:nvSpPr>
        <p:spPr>
          <a:xfrm>
            <a:off x="6236208" y="1503724"/>
            <a:ext cx="2240281" cy="5587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000">
                <a:solidFill>
                  <a:srgbClr val="374151"/>
                </a:solidFill>
              </a:defRPr>
            </a:lvl1pPr>
          </a:lstStyle>
          <a:p>
            <a:pPr/>
            <a:r>
              <a:t>Smart meters, AMI infrastructure, IoT sensors for real-time energy flow measurement.</a:t>
            </a:r>
          </a:p>
        </p:txBody>
      </p:sp>
      <p:sp>
        <p:nvSpPr>
          <p:cNvPr id="93" name="Shape 14"/>
          <p:cNvSpPr/>
          <p:nvPr/>
        </p:nvSpPr>
        <p:spPr>
          <a:xfrm>
            <a:off x="320040" y="2514600"/>
            <a:ext cx="2606040" cy="1463041"/>
          </a:xfrm>
          <a:prstGeom prst="rect">
            <a:avLst/>
          </a:prstGeom>
          <a:solidFill>
            <a:srgbClr val="F7F8FA"/>
          </a:solidFill>
          <a:ln w="12700">
            <a:solidFill>
              <a:srgbClr val="E5E7E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94" name="Shape 15"/>
          <p:cNvSpPr/>
          <p:nvPr/>
        </p:nvSpPr>
        <p:spPr>
          <a:xfrm>
            <a:off x="320040" y="2514600"/>
            <a:ext cx="109729" cy="1463041"/>
          </a:xfrm>
          <a:prstGeom prst="rect">
            <a:avLst/>
          </a:prstGeom>
          <a:solidFill>
            <a:srgbClr val="2E7D4F"/>
          </a:solidFill>
          <a:ln w="12700">
            <a:solidFill>
              <a:srgbClr val="2E7D4F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95" name="Text 16"/>
          <p:cNvSpPr txBox="1"/>
          <p:nvPr/>
        </p:nvSpPr>
        <p:spPr>
          <a:xfrm>
            <a:off x="566927" y="2666921"/>
            <a:ext cx="2240282" cy="2257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100">
                <a:solidFill>
                  <a:srgbClr val="1A3A5C"/>
                </a:solidFill>
              </a:defRPr>
            </a:lvl1pPr>
          </a:lstStyle>
          <a:p>
            <a:pPr/>
            <a:r>
              <a:t>Blockchain / Distributed Ledger</a:t>
            </a:r>
          </a:p>
        </p:txBody>
      </p:sp>
      <p:sp>
        <p:nvSpPr>
          <p:cNvPr id="96" name="Text 17"/>
          <p:cNvSpPr txBox="1"/>
          <p:nvPr/>
        </p:nvSpPr>
        <p:spPr>
          <a:xfrm>
            <a:off x="566927" y="3149644"/>
            <a:ext cx="2240282" cy="5587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000">
                <a:solidFill>
                  <a:srgbClr val="374151"/>
                </a:solidFill>
              </a:defRPr>
            </a:lvl1pPr>
          </a:lstStyle>
          <a:p>
            <a:pPr/>
            <a:r>
              <a:t>Tamper-proof energy transaction records. Each trade is verifiable without a central authority.</a:t>
            </a:r>
          </a:p>
        </p:txBody>
      </p:sp>
      <p:sp>
        <p:nvSpPr>
          <p:cNvPr id="97" name="Shape 18"/>
          <p:cNvSpPr/>
          <p:nvPr/>
        </p:nvSpPr>
        <p:spPr>
          <a:xfrm>
            <a:off x="3154679" y="2514600"/>
            <a:ext cx="2606041" cy="1463041"/>
          </a:xfrm>
          <a:prstGeom prst="rect">
            <a:avLst/>
          </a:prstGeom>
          <a:solidFill>
            <a:srgbClr val="F7F8FA"/>
          </a:solidFill>
          <a:ln w="12700">
            <a:solidFill>
              <a:srgbClr val="E5E7E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98" name="Shape 19"/>
          <p:cNvSpPr/>
          <p:nvPr/>
        </p:nvSpPr>
        <p:spPr>
          <a:xfrm>
            <a:off x="3154679" y="2514600"/>
            <a:ext cx="109729" cy="1463041"/>
          </a:xfrm>
          <a:prstGeom prst="rect">
            <a:avLst/>
          </a:prstGeom>
          <a:solidFill>
            <a:srgbClr val="2E7D4F"/>
          </a:solidFill>
          <a:ln w="12700">
            <a:solidFill>
              <a:srgbClr val="2E7D4F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99" name="Text 20"/>
          <p:cNvSpPr txBox="1"/>
          <p:nvPr/>
        </p:nvSpPr>
        <p:spPr>
          <a:xfrm>
            <a:off x="3401567" y="2666921"/>
            <a:ext cx="2240282" cy="2257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100">
                <a:solidFill>
                  <a:srgbClr val="1A3A5C"/>
                </a:solidFill>
              </a:defRPr>
            </a:lvl1pPr>
          </a:lstStyle>
          <a:p>
            <a:pPr/>
            <a:r>
              <a:t>Energy Policy &amp; Regulation</a:t>
            </a:r>
          </a:p>
        </p:txBody>
      </p:sp>
      <p:sp>
        <p:nvSpPr>
          <p:cNvPr id="100" name="Text 21"/>
          <p:cNvSpPr txBox="1"/>
          <p:nvPr/>
        </p:nvSpPr>
        <p:spPr>
          <a:xfrm>
            <a:off x="3401567" y="3149644"/>
            <a:ext cx="2240282" cy="5587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000">
                <a:solidFill>
                  <a:srgbClr val="374151"/>
                </a:solidFill>
              </a:defRPr>
            </a:lvl1pPr>
          </a:lstStyle>
          <a:p>
            <a:pPr/>
            <a:r>
              <a:t>CERC, SERC, Electricity Act 2003, MNRE rooftop solar guidelines — the legal framework.</a:t>
            </a:r>
          </a:p>
        </p:txBody>
      </p:sp>
      <p:sp>
        <p:nvSpPr>
          <p:cNvPr id="101" name="Shape 22"/>
          <p:cNvSpPr/>
          <p:nvPr/>
        </p:nvSpPr>
        <p:spPr>
          <a:xfrm>
            <a:off x="5989320" y="2514600"/>
            <a:ext cx="2606041" cy="1463041"/>
          </a:xfrm>
          <a:prstGeom prst="rect">
            <a:avLst/>
          </a:prstGeom>
          <a:solidFill>
            <a:srgbClr val="F7F8FA"/>
          </a:solidFill>
          <a:ln w="12700">
            <a:solidFill>
              <a:srgbClr val="E5E7E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02" name="Shape 23"/>
          <p:cNvSpPr/>
          <p:nvPr/>
        </p:nvSpPr>
        <p:spPr>
          <a:xfrm>
            <a:off x="5989320" y="2514600"/>
            <a:ext cx="109729" cy="1463041"/>
          </a:xfrm>
          <a:prstGeom prst="rect">
            <a:avLst/>
          </a:prstGeom>
          <a:solidFill>
            <a:srgbClr val="2E7D4F"/>
          </a:solidFill>
          <a:ln w="12700">
            <a:solidFill>
              <a:srgbClr val="2E7D4F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03" name="Text 24"/>
          <p:cNvSpPr txBox="1"/>
          <p:nvPr/>
        </p:nvSpPr>
        <p:spPr>
          <a:xfrm>
            <a:off x="6236208" y="2666921"/>
            <a:ext cx="2240281" cy="2257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100">
                <a:solidFill>
                  <a:srgbClr val="1A3A5C"/>
                </a:solidFill>
              </a:defRPr>
            </a:lvl1pPr>
          </a:lstStyle>
          <a:p>
            <a:pPr/>
            <a:r>
              <a:t>FinTech &amp; Micro-payments</a:t>
            </a:r>
          </a:p>
        </p:txBody>
      </p:sp>
      <p:sp>
        <p:nvSpPr>
          <p:cNvPr id="104" name="Text 25"/>
          <p:cNvSpPr txBox="1"/>
          <p:nvPr/>
        </p:nvSpPr>
        <p:spPr>
          <a:xfrm>
            <a:off x="6236208" y="3149644"/>
            <a:ext cx="2240281" cy="5587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000">
                <a:solidFill>
                  <a:srgbClr val="374151"/>
                </a:solidFill>
              </a:defRPr>
            </a:lvl1pPr>
          </a:lstStyle>
          <a:p>
            <a:pPr/>
            <a:r>
              <a:t>UPI-based micropayments, energy wallets, automated billing using India's payment stack.</a:t>
            </a:r>
          </a:p>
        </p:txBody>
      </p:sp>
      <p:sp>
        <p:nvSpPr>
          <p:cNvPr id="105" name="Text 26"/>
          <p:cNvSpPr txBox="1"/>
          <p:nvPr/>
        </p:nvSpPr>
        <p:spPr>
          <a:xfrm>
            <a:off x="365760" y="4367705"/>
            <a:ext cx="8412480" cy="2257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i="1" sz="1100">
                <a:solidFill>
                  <a:srgbClr val="6B7280"/>
                </a:solidFill>
              </a:defRPr>
            </a:lvl1pPr>
          </a:lstStyle>
          <a:p>
            <a:pPr/>
            <a:r>
              <a:t>These 6 domains converge in Enerex — no single existing Indian platform bridges all of them.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Text 0"/>
          <p:cNvSpPr txBox="1"/>
          <p:nvPr/>
        </p:nvSpPr>
        <p:spPr>
          <a:xfrm>
            <a:off x="457200" y="265536"/>
            <a:ext cx="8229600" cy="3010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400">
                <a:solidFill>
                  <a:srgbClr val="1A3A5C"/>
                </a:solidFill>
              </a:defRPr>
            </a:lvl1pPr>
          </a:lstStyle>
          <a:p>
            <a:pPr/>
            <a:r>
              <a:t>05  |  Existing Solutions &amp; Gaps</a:t>
            </a:r>
          </a:p>
        </p:txBody>
      </p:sp>
      <p:sp>
        <p:nvSpPr>
          <p:cNvPr id="108" name="Shape 1"/>
          <p:cNvSpPr/>
          <p:nvPr/>
        </p:nvSpPr>
        <p:spPr>
          <a:xfrm>
            <a:off x="457200" y="713231"/>
            <a:ext cx="8229600" cy="1"/>
          </a:xfrm>
          <a:prstGeom prst="line">
            <a:avLst/>
          </a:prstGeom>
          <a:ln w="25400">
            <a:solidFill>
              <a:srgbClr val="2E7D4F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09" name="Shape 2"/>
          <p:cNvSpPr/>
          <p:nvPr/>
        </p:nvSpPr>
        <p:spPr>
          <a:xfrm>
            <a:off x="320040" y="841247"/>
            <a:ext cx="1417320" cy="347473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10" name="Text 3"/>
          <p:cNvSpPr txBox="1"/>
          <p:nvPr/>
        </p:nvSpPr>
        <p:spPr>
          <a:xfrm>
            <a:off x="365759" y="946448"/>
            <a:ext cx="1371601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000">
                <a:solidFill>
                  <a:srgbClr val="FFFFFF"/>
                </a:solidFill>
              </a:defRPr>
            </a:lvl1pPr>
          </a:lstStyle>
          <a:p>
            <a:pPr/>
            <a:r>
              <a:t>Platform</a:t>
            </a:r>
          </a:p>
        </p:txBody>
      </p:sp>
      <p:sp>
        <p:nvSpPr>
          <p:cNvPr id="111" name="Shape 4"/>
          <p:cNvSpPr/>
          <p:nvPr/>
        </p:nvSpPr>
        <p:spPr>
          <a:xfrm>
            <a:off x="1783079" y="841247"/>
            <a:ext cx="868681" cy="347473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12" name="Text 5"/>
          <p:cNvSpPr txBox="1"/>
          <p:nvPr/>
        </p:nvSpPr>
        <p:spPr>
          <a:xfrm>
            <a:off x="1828800" y="946448"/>
            <a:ext cx="822961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000">
                <a:solidFill>
                  <a:srgbClr val="FFFFFF"/>
                </a:solidFill>
              </a:defRPr>
            </a:lvl1pPr>
          </a:lstStyle>
          <a:p>
            <a:pPr/>
            <a:r>
              <a:t>Country</a:t>
            </a:r>
          </a:p>
        </p:txBody>
      </p:sp>
      <p:sp>
        <p:nvSpPr>
          <p:cNvPr id="113" name="Shape 6"/>
          <p:cNvSpPr/>
          <p:nvPr/>
        </p:nvSpPr>
        <p:spPr>
          <a:xfrm>
            <a:off x="2697479" y="841247"/>
            <a:ext cx="2880361" cy="347473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14" name="Text 7"/>
          <p:cNvSpPr txBox="1"/>
          <p:nvPr/>
        </p:nvSpPr>
        <p:spPr>
          <a:xfrm>
            <a:off x="2743200" y="946448"/>
            <a:ext cx="2834640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000">
                <a:solidFill>
                  <a:srgbClr val="FFFFFF"/>
                </a:solidFill>
              </a:defRPr>
            </a:lvl1pPr>
          </a:lstStyle>
          <a:p>
            <a:pPr/>
            <a:r>
              <a:t>What It Does</a:t>
            </a:r>
          </a:p>
        </p:txBody>
      </p:sp>
      <p:sp>
        <p:nvSpPr>
          <p:cNvPr id="115" name="Shape 8"/>
          <p:cNvSpPr/>
          <p:nvPr/>
        </p:nvSpPr>
        <p:spPr>
          <a:xfrm>
            <a:off x="5623559" y="841247"/>
            <a:ext cx="2697481" cy="347473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16" name="Text 9"/>
          <p:cNvSpPr txBox="1"/>
          <p:nvPr/>
        </p:nvSpPr>
        <p:spPr>
          <a:xfrm>
            <a:off x="5669279" y="946448"/>
            <a:ext cx="2651761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000">
                <a:solidFill>
                  <a:srgbClr val="FFFFFF"/>
                </a:solidFill>
              </a:defRPr>
            </a:lvl1pPr>
          </a:lstStyle>
          <a:p>
            <a:pPr/>
            <a:r>
              <a:t>Why It Fails India</a:t>
            </a:r>
          </a:p>
        </p:txBody>
      </p:sp>
      <p:sp>
        <p:nvSpPr>
          <p:cNvPr id="117" name="Shape 10"/>
          <p:cNvSpPr/>
          <p:nvPr/>
        </p:nvSpPr>
        <p:spPr>
          <a:xfrm>
            <a:off x="320040" y="1216152"/>
            <a:ext cx="1417320" cy="521209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18" name="Text 11"/>
          <p:cNvSpPr txBox="1"/>
          <p:nvPr/>
        </p:nvSpPr>
        <p:spPr>
          <a:xfrm>
            <a:off x="429768" y="1362500"/>
            <a:ext cx="1234441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000">
                <a:solidFill>
                  <a:srgbClr val="374151"/>
                </a:solidFill>
              </a:defRPr>
            </a:lvl1pPr>
          </a:lstStyle>
          <a:p>
            <a:pPr/>
            <a:r>
              <a:t>Power Ledger</a:t>
            </a:r>
          </a:p>
        </p:txBody>
      </p:sp>
      <p:sp>
        <p:nvSpPr>
          <p:cNvPr id="119" name="Shape 12"/>
          <p:cNvSpPr/>
          <p:nvPr/>
        </p:nvSpPr>
        <p:spPr>
          <a:xfrm>
            <a:off x="1783079" y="1216152"/>
            <a:ext cx="868681" cy="521209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20" name="Text 13"/>
          <p:cNvSpPr txBox="1"/>
          <p:nvPr/>
        </p:nvSpPr>
        <p:spPr>
          <a:xfrm>
            <a:off x="1892808" y="1362500"/>
            <a:ext cx="685801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000">
                <a:solidFill>
                  <a:srgbClr val="374151"/>
                </a:solidFill>
              </a:defRPr>
            </a:lvl1pPr>
          </a:lstStyle>
          <a:p>
            <a:pPr/>
            <a:r>
              <a:t>Australia</a:t>
            </a:r>
          </a:p>
        </p:txBody>
      </p:sp>
      <p:sp>
        <p:nvSpPr>
          <p:cNvPr id="121" name="Shape 14"/>
          <p:cNvSpPr/>
          <p:nvPr/>
        </p:nvSpPr>
        <p:spPr>
          <a:xfrm>
            <a:off x="2697479" y="1216152"/>
            <a:ext cx="2880361" cy="521209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22" name="Text 15"/>
          <p:cNvSpPr txBox="1"/>
          <p:nvPr/>
        </p:nvSpPr>
        <p:spPr>
          <a:xfrm>
            <a:off x="2807207" y="1279950"/>
            <a:ext cx="2697482" cy="3936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000">
                <a:solidFill>
                  <a:srgbClr val="374151"/>
                </a:solidFill>
              </a:defRPr>
            </a:lvl1pPr>
          </a:lstStyle>
          <a:p>
            <a:pPr/>
            <a:r>
              <a:t>Blockchain-based P2P energy trading in apartments</a:t>
            </a:r>
          </a:p>
        </p:txBody>
      </p:sp>
      <p:sp>
        <p:nvSpPr>
          <p:cNvPr id="123" name="Shape 16"/>
          <p:cNvSpPr/>
          <p:nvPr/>
        </p:nvSpPr>
        <p:spPr>
          <a:xfrm>
            <a:off x="5623559" y="1216152"/>
            <a:ext cx="2697481" cy="521209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24" name="Text 17"/>
          <p:cNvSpPr txBox="1"/>
          <p:nvPr/>
        </p:nvSpPr>
        <p:spPr>
          <a:xfrm>
            <a:off x="5733288" y="1303949"/>
            <a:ext cx="2514601" cy="3456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900">
                <a:solidFill>
                  <a:srgbClr val="C0392B"/>
                </a:solidFill>
              </a:defRPr>
            </a:lvl1pPr>
          </a:lstStyle>
          <a:p>
            <a:pPr/>
            <a:r>
              <a:t>Requires stable smart grid; expensive setup; not India-compliant</a:t>
            </a:r>
          </a:p>
        </p:txBody>
      </p:sp>
      <p:sp>
        <p:nvSpPr>
          <p:cNvPr id="125" name="Shape 18"/>
          <p:cNvSpPr/>
          <p:nvPr/>
        </p:nvSpPr>
        <p:spPr>
          <a:xfrm>
            <a:off x="320040" y="1764792"/>
            <a:ext cx="1417320" cy="521209"/>
          </a:xfrm>
          <a:prstGeom prst="rect">
            <a:avLst/>
          </a:prstGeom>
          <a:solidFill>
            <a:srgbClr val="F7F8FA"/>
          </a:solidFill>
          <a:ln w="6350">
            <a:solidFill>
              <a:srgbClr val="E5E7E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26" name="Text 19"/>
          <p:cNvSpPr txBox="1"/>
          <p:nvPr/>
        </p:nvSpPr>
        <p:spPr>
          <a:xfrm>
            <a:off x="429768" y="1911140"/>
            <a:ext cx="1234441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000">
                <a:solidFill>
                  <a:srgbClr val="374151"/>
                </a:solidFill>
              </a:defRPr>
            </a:lvl1pPr>
          </a:lstStyle>
          <a:p>
            <a:pPr/>
            <a:r>
              <a:t>WePower</a:t>
            </a:r>
          </a:p>
        </p:txBody>
      </p:sp>
      <p:sp>
        <p:nvSpPr>
          <p:cNvPr id="127" name="Shape 20"/>
          <p:cNvSpPr/>
          <p:nvPr/>
        </p:nvSpPr>
        <p:spPr>
          <a:xfrm>
            <a:off x="1783079" y="1764792"/>
            <a:ext cx="868681" cy="521209"/>
          </a:xfrm>
          <a:prstGeom prst="rect">
            <a:avLst/>
          </a:prstGeom>
          <a:solidFill>
            <a:srgbClr val="F7F8FA"/>
          </a:solidFill>
          <a:ln w="6350">
            <a:solidFill>
              <a:srgbClr val="E5E7E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28" name="Text 21"/>
          <p:cNvSpPr txBox="1"/>
          <p:nvPr/>
        </p:nvSpPr>
        <p:spPr>
          <a:xfrm>
            <a:off x="1892808" y="1911140"/>
            <a:ext cx="685801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000">
                <a:solidFill>
                  <a:srgbClr val="374151"/>
                </a:solidFill>
              </a:defRPr>
            </a:lvl1pPr>
          </a:lstStyle>
          <a:p>
            <a:pPr/>
            <a:r>
              <a:t>Estonia</a:t>
            </a:r>
          </a:p>
        </p:txBody>
      </p:sp>
      <p:sp>
        <p:nvSpPr>
          <p:cNvPr id="129" name="Shape 22"/>
          <p:cNvSpPr/>
          <p:nvPr/>
        </p:nvSpPr>
        <p:spPr>
          <a:xfrm>
            <a:off x="2697479" y="1764792"/>
            <a:ext cx="2880361" cy="521209"/>
          </a:xfrm>
          <a:prstGeom prst="rect">
            <a:avLst/>
          </a:prstGeom>
          <a:solidFill>
            <a:srgbClr val="F7F8FA"/>
          </a:solidFill>
          <a:ln w="6350">
            <a:solidFill>
              <a:srgbClr val="E5E7E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30" name="Text 23"/>
          <p:cNvSpPr txBox="1"/>
          <p:nvPr/>
        </p:nvSpPr>
        <p:spPr>
          <a:xfrm>
            <a:off x="2807207" y="1911140"/>
            <a:ext cx="2697482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000">
                <a:solidFill>
                  <a:srgbClr val="374151"/>
                </a:solidFill>
              </a:defRPr>
            </a:lvl1pPr>
          </a:lstStyle>
          <a:p>
            <a:pPr/>
            <a:r>
              <a:t>Tokenized RE purchasing for corporates</a:t>
            </a:r>
          </a:p>
        </p:txBody>
      </p:sp>
      <p:sp>
        <p:nvSpPr>
          <p:cNvPr id="131" name="Shape 24"/>
          <p:cNvSpPr/>
          <p:nvPr/>
        </p:nvSpPr>
        <p:spPr>
          <a:xfrm>
            <a:off x="5623559" y="1764792"/>
            <a:ext cx="2697481" cy="521209"/>
          </a:xfrm>
          <a:prstGeom prst="rect">
            <a:avLst/>
          </a:prstGeom>
          <a:solidFill>
            <a:srgbClr val="F7F8FA"/>
          </a:solidFill>
          <a:ln w="6350">
            <a:solidFill>
              <a:srgbClr val="E5E7E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32" name="Text 25"/>
          <p:cNvSpPr txBox="1"/>
          <p:nvPr/>
        </p:nvSpPr>
        <p:spPr>
          <a:xfrm>
            <a:off x="5733288" y="1922439"/>
            <a:ext cx="2514601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900">
                <a:solidFill>
                  <a:srgbClr val="C0392B"/>
                </a:solidFill>
              </a:defRPr>
            </a:lvl1pPr>
          </a:lstStyle>
          <a:p>
            <a:pPr/>
            <a:r>
              <a:t>Corporate-only PPAs; no household or SME access</a:t>
            </a:r>
          </a:p>
        </p:txBody>
      </p:sp>
      <p:sp>
        <p:nvSpPr>
          <p:cNvPr id="133" name="Shape 26"/>
          <p:cNvSpPr/>
          <p:nvPr/>
        </p:nvSpPr>
        <p:spPr>
          <a:xfrm>
            <a:off x="320040" y="2313432"/>
            <a:ext cx="1417320" cy="521209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34" name="Text 27"/>
          <p:cNvSpPr txBox="1"/>
          <p:nvPr/>
        </p:nvSpPr>
        <p:spPr>
          <a:xfrm>
            <a:off x="429768" y="2459780"/>
            <a:ext cx="1234441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000">
                <a:solidFill>
                  <a:srgbClr val="374151"/>
                </a:solidFill>
              </a:defRPr>
            </a:lvl1pPr>
          </a:lstStyle>
          <a:p>
            <a:pPr/>
            <a:r>
              <a:t>IEX (India)</a:t>
            </a:r>
          </a:p>
        </p:txBody>
      </p:sp>
      <p:sp>
        <p:nvSpPr>
          <p:cNvPr id="135" name="Shape 28"/>
          <p:cNvSpPr/>
          <p:nvPr/>
        </p:nvSpPr>
        <p:spPr>
          <a:xfrm>
            <a:off x="1783079" y="2313432"/>
            <a:ext cx="868681" cy="521209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36" name="Text 29"/>
          <p:cNvSpPr txBox="1"/>
          <p:nvPr/>
        </p:nvSpPr>
        <p:spPr>
          <a:xfrm>
            <a:off x="1892808" y="2459780"/>
            <a:ext cx="685801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000">
                <a:solidFill>
                  <a:srgbClr val="374151"/>
                </a:solidFill>
              </a:defRPr>
            </a:lvl1pPr>
          </a:lstStyle>
          <a:p>
            <a:pPr/>
            <a:r>
              <a:t>India</a:t>
            </a:r>
          </a:p>
        </p:txBody>
      </p:sp>
      <p:sp>
        <p:nvSpPr>
          <p:cNvPr id="137" name="Shape 30"/>
          <p:cNvSpPr/>
          <p:nvPr/>
        </p:nvSpPr>
        <p:spPr>
          <a:xfrm>
            <a:off x="2697479" y="2313432"/>
            <a:ext cx="2880361" cy="521209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38" name="Text 31"/>
          <p:cNvSpPr txBox="1"/>
          <p:nvPr/>
        </p:nvSpPr>
        <p:spPr>
          <a:xfrm>
            <a:off x="2807207" y="2377230"/>
            <a:ext cx="2697482" cy="3936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000">
                <a:solidFill>
                  <a:srgbClr val="374151"/>
                </a:solidFill>
              </a:defRPr>
            </a:lvl1pPr>
          </a:lstStyle>
          <a:p>
            <a:pPr/>
            <a:r>
              <a:t>Wholesale renewable energy exchange for large buyers</a:t>
            </a:r>
          </a:p>
        </p:txBody>
      </p:sp>
      <p:sp>
        <p:nvSpPr>
          <p:cNvPr id="139" name="Shape 32"/>
          <p:cNvSpPr/>
          <p:nvPr/>
        </p:nvSpPr>
        <p:spPr>
          <a:xfrm>
            <a:off x="5623559" y="2313432"/>
            <a:ext cx="2697481" cy="521209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40" name="Text 33"/>
          <p:cNvSpPr txBox="1"/>
          <p:nvPr/>
        </p:nvSpPr>
        <p:spPr>
          <a:xfrm>
            <a:off x="5733288" y="2401229"/>
            <a:ext cx="2514601" cy="3456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900">
                <a:solidFill>
                  <a:srgbClr val="C0392B"/>
                </a:solidFill>
              </a:defRPr>
            </a:lvl1pPr>
          </a:lstStyle>
          <a:p>
            <a:pPr/>
            <a:r>
              <a:t>Min. 100 kW trade size; zero household access; no retail market</a:t>
            </a:r>
          </a:p>
        </p:txBody>
      </p:sp>
      <p:sp>
        <p:nvSpPr>
          <p:cNvPr id="141" name="Shape 34"/>
          <p:cNvSpPr/>
          <p:nvPr/>
        </p:nvSpPr>
        <p:spPr>
          <a:xfrm>
            <a:off x="320040" y="2862072"/>
            <a:ext cx="1417320" cy="521209"/>
          </a:xfrm>
          <a:prstGeom prst="rect">
            <a:avLst/>
          </a:prstGeom>
          <a:solidFill>
            <a:srgbClr val="F7F8FA"/>
          </a:solidFill>
          <a:ln w="6350">
            <a:solidFill>
              <a:srgbClr val="E5E7E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42" name="Text 35"/>
          <p:cNvSpPr txBox="1"/>
          <p:nvPr/>
        </p:nvSpPr>
        <p:spPr>
          <a:xfrm>
            <a:off x="429768" y="3008420"/>
            <a:ext cx="1234441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000">
                <a:solidFill>
                  <a:srgbClr val="374151"/>
                </a:solidFill>
              </a:defRPr>
            </a:lvl1pPr>
          </a:lstStyle>
          <a:p>
            <a:pPr/>
            <a:r>
              <a:t>Tata Power Pilot</a:t>
            </a:r>
          </a:p>
        </p:txBody>
      </p:sp>
      <p:sp>
        <p:nvSpPr>
          <p:cNvPr id="143" name="Shape 36"/>
          <p:cNvSpPr/>
          <p:nvPr/>
        </p:nvSpPr>
        <p:spPr>
          <a:xfrm>
            <a:off x="1783079" y="2862072"/>
            <a:ext cx="868681" cy="521209"/>
          </a:xfrm>
          <a:prstGeom prst="rect">
            <a:avLst/>
          </a:prstGeom>
          <a:solidFill>
            <a:srgbClr val="F7F8FA"/>
          </a:solidFill>
          <a:ln w="6350">
            <a:solidFill>
              <a:srgbClr val="E5E7E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44" name="Text 37"/>
          <p:cNvSpPr txBox="1"/>
          <p:nvPr/>
        </p:nvSpPr>
        <p:spPr>
          <a:xfrm>
            <a:off x="1892808" y="3008420"/>
            <a:ext cx="685801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000">
                <a:solidFill>
                  <a:srgbClr val="374151"/>
                </a:solidFill>
              </a:defRPr>
            </a:lvl1pPr>
          </a:lstStyle>
          <a:p>
            <a:pPr/>
            <a:r>
              <a:t>India</a:t>
            </a:r>
          </a:p>
        </p:txBody>
      </p:sp>
      <p:sp>
        <p:nvSpPr>
          <p:cNvPr id="145" name="Shape 38"/>
          <p:cNvSpPr/>
          <p:nvPr/>
        </p:nvSpPr>
        <p:spPr>
          <a:xfrm>
            <a:off x="2697479" y="2862072"/>
            <a:ext cx="2880361" cy="521209"/>
          </a:xfrm>
          <a:prstGeom prst="rect">
            <a:avLst/>
          </a:prstGeom>
          <a:solidFill>
            <a:srgbClr val="F7F8FA"/>
          </a:solidFill>
          <a:ln w="6350">
            <a:solidFill>
              <a:srgbClr val="E5E7E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46" name="Text 39"/>
          <p:cNvSpPr txBox="1"/>
          <p:nvPr/>
        </p:nvSpPr>
        <p:spPr>
          <a:xfrm>
            <a:off x="2807207" y="3008420"/>
            <a:ext cx="2697482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000">
                <a:solidFill>
                  <a:srgbClr val="374151"/>
                </a:solidFill>
              </a:defRPr>
            </a:lvl1pPr>
          </a:lstStyle>
          <a:p>
            <a:pPr/>
            <a:r>
              <a:t>Solar surplus trading for Tata customers (Mumbai)</a:t>
            </a:r>
          </a:p>
        </p:txBody>
      </p:sp>
      <p:sp>
        <p:nvSpPr>
          <p:cNvPr id="147" name="Shape 40"/>
          <p:cNvSpPr/>
          <p:nvPr/>
        </p:nvSpPr>
        <p:spPr>
          <a:xfrm>
            <a:off x="5623559" y="2862072"/>
            <a:ext cx="2697481" cy="521209"/>
          </a:xfrm>
          <a:prstGeom prst="rect">
            <a:avLst/>
          </a:prstGeom>
          <a:solidFill>
            <a:srgbClr val="F7F8FA"/>
          </a:solidFill>
          <a:ln w="6350">
            <a:solidFill>
              <a:srgbClr val="E5E7E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48" name="Text 41"/>
          <p:cNvSpPr txBox="1"/>
          <p:nvPr/>
        </p:nvSpPr>
        <p:spPr>
          <a:xfrm>
            <a:off x="5733288" y="2949869"/>
            <a:ext cx="2514601" cy="3456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900">
                <a:solidFill>
                  <a:srgbClr val="C0392B"/>
                </a:solidFill>
              </a:defRPr>
            </a:lvl1pPr>
          </a:lstStyle>
          <a:p>
            <a:pPr/>
            <a:r>
              <a:t>Closed ecosystem; only Tata Power customers; not scalable</a:t>
            </a:r>
          </a:p>
        </p:txBody>
      </p:sp>
      <p:sp>
        <p:nvSpPr>
          <p:cNvPr id="149" name="Shape 42"/>
          <p:cNvSpPr/>
          <p:nvPr/>
        </p:nvSpPr>
        <p:spPr>
          <a:xfrm>
            <a:off x="320040" y="3410711"/>
            <a:ext cx="1417320" cy="521209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50" name="Text 43"/>
          <p:cNvSpPr txBox="1"/>
          <p:nvPr/>
        </p:nvSpPr>
        <p:spPr>
          <a:xfrm>
            <a:off x="429768" y="3557060"/>
            <a:ext cx="1234441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000">
                <a:solidFill>
                  <a:srgbClr val="374151"/>
                </a:solidFill>
              </a:defRPr>
            </a:lvl1pPr>
          </a:lstStyle>
          <a:p>
            <a:pPr/>
            <a:r>
              <a:t>UPPCL Pilot</a:t>
            </a:r>
          </a:p>
        </p:txBody>
      </p:sp>
      <p:sp>
        <p:nvSpPr>
          <p:cNvPr id="151" name="Shape 44"/>
          <p:cNvSpPr/>
          <p:nvPr/>
        </p:nvSpPr>
        <p:spPr>
          <a:xfrm>
            <a:off x="1783079" y="3410711"/>
            <a:ext cx="868681" cy="521209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52" name="Text 45"/>
          <p:cNvSpPr txBox="1"/>
          <p:nvPr/>
        </p:nvSpPr>
        <p:spPr>
          <a:xfrm>
            <a:off x="1892808" y="3557060"/>
            <a:ext cx="685801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000">
                <a:solidFill>
                  <a:srgbClr val="374151"/>
                </a:solidFill>
              </a:defRPr>
            </a:lvl1pPr>
          </a:lstStyle>
          <a:p>
            <a:pPr/>
            <a:r>
              <a:t>India</a:t>
            </a:r>
          </a:p>
        </p:txBody>
      </p:sp>
      <p:sp>
        <p:nvSpPr>
          <p:cNvPr id="153" name="Shape 46"/>
          <p:cNvSpPr/>
          <p:nvPr/>
        </p:nvSpPr>
        <p:spPr>
          <a:xfrm>
            <a:off x="2697479" y="3410711"/>
            <a:ext cx="2880361" cy="521209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54" name="Text 47"/>
          <p:cNvSpPr txBox="1"/>
          <p:nvPr/>
        </p:nvSpPr>
        <p:spPr>
          <a:xfrm>
            <a:off x="2807207" y="3557060"/>
            <a:ext cx="2697482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000">
                <a:solidFill>
                  <a:srgbClr val="374151"/>
                </a:solidFill>
              </a:defRPr>
            </a:lvl1pPr>
          </a:lstStyle>
          <a:p>
            <a:pPr/>
            <a:r>
              <a:t>20-prosumer P2P experiment in Lucknow</a:t>
            </a:r>
          </a:p>
        </p:txBody>
      </p:sp>
      <p:sp>
        <p:nvSpPr>
          <p:cNvPr id="155" name="Shape 48"/>
          <p:cNvSpPr/>
          <p:nvPr/>
        </p:nvSpPr>
        <p:spPr>
          <a:xfrm>
            <a:off x="5623559" y="3410711"/>
            <a:ext cx="2697481" cy="521209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56" name="Text 49"/>
          <p:cNvSpPr txBox="1"/>
          <p:nvPr/>
        </p:nvSpPr>
        <p:spPr>
          <a:xfrm>
            <a:off x="5733288" y="3568359"/>
            <a:ext cx="2514601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900">
                <a:solidFill>
                  <a:srgbClr val="C0392B"/>
                </a:solidFill>
              </a:defRPr>
            </a:lvl1pPr>
          </a:lstStyle>
          <a:p>
            <a:pPr/>
            <a:r>
              <a:t>Not a product; no app, no UPI, not open to public</a:t>
            </a:r>
          </a:p>
        </p:txBody>
      </p:sp>
      <p:sp>
        <p:nvSpPr>
          <p:cNvPr id="157" name="Text 50"/>
          <p:cNvSpPr txBox="1"/>
          <p:nvPr/>
        </p:nvSpPr>
        <p:spPr>
          <a:xfrm>
            <a:off x="365760" y="4344846"/>
            <a:ext cx="8412480" cy="2257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100">
                <a:solidFill>
                  <a:srgbClr val="2E7D4F"/>
                </a:solidFill>
              </a:defRPr>
            </a:lvl1pPr>
          </a:lstStyle>
          <a:p>
            <a:pPr/>
            <a:r>
              <a:t>White Space: No open, accessible, mobile-first P2P marketplace for small producers in Tier 2/3 India.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Text 0"/>
          <p:cNvSpPr txBox="1"/>
          <p:nvPr/>
        </p:nvSpPr>
        <p:spPr>
          <a:xfrm>
            <a:off x="457200" y="265536"/>
            <a:ext cx="8229600" cy="3010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400">
                <a:solidFill>
                  <a:srgbClr val="1A3A5C"/>
                </a:solidFill>
              </a:defRPr>
            </a:lvl1pPr>
          </a:lstStyle>
          <a:p>
            <a:pPr/>
            <a:r>
              <a:t>08  |  Proposed Solution — Enerex</a:t>
            </a:r>
          </a:p>
        </p:txBody>
      </p:sp>
      <p:sp>
        <p:nvSpPr>
          <p:cNvPr id="160" name="Shape 1"/>
          <p:cNvSpPr/>
          <p:nvPr/>
        </p:nvSpPr>
        <p:spPr>
          <a:xfrm>
            <a:off x="457200" y="713231"/>
            <a:ext cx="8229600" cy="1"/>
          </a:xfrm>
          <a:prstGeom prst="line">
            <a:avLst/>
          </a:prstGeom>
          <a:ln w="25400">
            <a:solidFill>
              <a:srgbClr val="2E7D4F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61" name="Text 2"/>
          <p:cNvSpPr txBox="1"/>
          <p:nvPr/>
        </p:nvSpPr>
        <p:spPr>
          <a:xfrm>
            <a:off x="411479" y="980879"/>
            <a:ext cx="8321041" cy="4614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>
              <a:defRPr i="1" sz="1300">
                <a:solidFill>
                  <a:srgbClr val="1A3A5C"/>
                </a:solidFill>
              </a:defRPr>
            </a:pPr>
            <a:r>
              <a:t>"India's first open P2P renewable energy marketplace —</a:t>
            </a:r>
          </a:p>
          <a:p>
            <a:pPr>
              <a:defRPr i="1" sz="1300">
                <a:solidFill>
                  <a:srgbClr val="1A3A5C"/>
                </a:solidFill>
              </a:defRPr>
            </a:pPr>
            <a:r>
              <a:t>designed for Bharat, not Brooklyn."</a:t>
            </a:r>
          </a:p>
        </p:txBody>
      </p:sp>
      <p:sp>
        <p:nvSpPr>
          <p:cNvPr id="162" name="Shape 3"/>
          <p:cNvSpPr/>
          <p:nvPr/>
        </p:nvSpPr>
        <p:spPr>
          <a:xfrm>
            <a:off x="320039" y="1719072"/>
            <a:ext cx="2651762" cy="2057401"/>
          </a:xfrm>
          <a:prstGeom prst="rect">
            <a:avLst/>
          </a:prstGeom>
          <a:solidFill>
            <a:srgbClr val="D6EFE0"/>
          </a:solidFill>
          <a:ln w="15240">
            <a:solidFill>
              <a:srgbClr val="2E7D4F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63" name="Shape 4"/>
          <p:cNvSpPr/>
          <p:nvPr/>
        </p:nvSpPr>
        <p:spPr>
          <a:xfrm>
            <a:off x="320040" y="1719072"/>
            <a:ext cx="457201" cy="384049"/>
          </a:xfrm>
          <a:prstGeom prst="rect">
            <a:avLst/>
          </a:prstGeom>
          <a:solidFill>
            <a:srgbClr val="2E7D4F"/>
          </a:solidFill>
          <a:ln w="12700">
            <a:solidFill>
              <a:srgbClr val="2E7D4F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64" name="Text 5"/>
          <p:cNvSpPr txBox="1"/>
          <p:nvPr/>
        </p:nvSpPr>
        <p:spPr>
          <a:xfrm>
            <a:off x="320040" y="1832663"/>
            <a:ext cx="457201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200">
                <a:solidFill>
                  <a:srgbClr val="FFFFFF"/>
                </a:solidFill>
              </a:defRPr>
            </a:lvl1pPr>
          </a:lstStyle>
          <a:p>
            <a:pPr/>
            <a:r>
              <a:t>01</a:t>
            </a:r>
          </a:p>
        </p:txBody>
      </p:sp>
      <p:sp>
        <p:nvSpPr>
          <p:cNvPr id="165" name="Text 6"/>
          <p:cNvSpPr txBox="1"/>
          <p:nvPr/>
        </p:nvSpPr>
        <p:spPr>
          <a:xfrm>
            <a:off x="457199" y="2216711"/>
            <a:ext cx="2377442" cy="248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200">
                <a:solidFill>
                  <a:srgbClr val="1A3A5C"/>
                </a:solidFill>
              </a:defRPr>
            </a:lvl1pPr>
          </a:lstStyle>
          <a:p>
            <a:pPr/>
            <a:r>
              <a:t>Energy Marketplace</a:t>
            </a:r>
          </a:p>
        </p:txBody>
      </p:sp>
      <p:sp>
        <p:nvSpPr>
          <p:cNvPr id="166" name="Text 7"/>
          <p:cNvSpPr txBox="1"/>
          <p:nvPr/>
        </p:nvSpPr>
        <p:spPr>
          <a:xfrm>
            <a:off x="457199" y="2751626"/>
            <a:ext cx="2377442" cy="7238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000">
                <a:solidFill>
                  <a:srgbClr val="374151"/>
                </a:solidFill>
              </a:defRPr>
            </a:lvl1pPr>
          </a:lstStyle>
          <a:p>
            <a:pPr/>
            <a:r>
              <a:t>Live bidding board. Producers list surplus units with price. Consumers bid or accept. Smart meter settles in 15-min blocks. Payment via UPI.</a:t>
            </a:r>
          </a:p>
        </p:txBody>
      </p:sp>
      <p:sp>
        <p:nvSpPr>
          <p:cNvPr id="167" name="Shape 8"/>
          <p:cNvSpPr/>
          <p:nvPr/>
        </p:nvSpPr>
        <p:spPr>
          <a:xfrm>
            <a:off x="3200400" y="1719072"/>
            <a:ext cx="2651761" cy="2057401"/>
          </a:xfrm>
          <a:prstGeom prst="rect">
            <a:avLst/>
          </a:prstGeom>
          <a:solidFill>
            <a:srgbClr val="EAF1FB"/>
          </a:solidFill>
          <a:ln w="15240">
            <a:solidFill>
              <a:srgbClr val="1A3A5C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68" name="Shape 9"/>
          <p:cNvSpPr/>
          <p:nvPr/>
        </p:nvSpPr>
        <p:spPr>
          <a:xfrm>
            <a:off x="3200400" y="1719072"/>
            <a:ext cx="457200" cy="384049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69" name="Text 10"/>
          <p:cNvSpPr txBox="1"/>
          <p:nvPr/>
        </p:nvSpPr>
        <p:spPr>
          <a:xfrm>
            <a:off x="3200400" y="1832663"/>
            <a:ext cx="457200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200">
                <a:solidFill>
                  <a:srgbClr val="FFFFFF"/>
                </a:solidFill>
              </a:defRPr>
            </a:lvl1pPr>
          </a:lstStyle>
          <a:p>
            <a:pPr/>
            <a:r>
              <a:t>02</a:t>
            </a:r>
          </a:p>
        </p:txBody>
      </p:sp>
      <p:sp>
        <p:nvSpPr>
          <p:cNvPr id="170" name="Text 11"/>
          <p:cNvSpPr txBox="1"/>
          <p:nvPr/>
        </p:nvSpPr>
        <p:spPr>
          <a:xfrm>
            <a:off x="3337560" y="2216711"/>
            <a:ext cx="2377441" cy="248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200">
                <a:solidFill>
                  <a:srgbClr val="1A3A5C"/>
                </a:solidFill>
              </a:defRPr>
            </a:lvl1pPr>
          </a:lstStyle>
          <a:p>
            <a:pPr/>
            <a:r>
              <a:t>Trust &amp; Transparency Layer</a:t>
            </a:r>
          </a:p>
        </p:txBody>
      </p:sp>
      <p:sp>
        <p:nvSpPr>
          <p:cNvPr id="171" name="Text 12"/>
          <p:cNvSpPr txBox="1"/>
          <p:nvPr/>
        </p:nvSpPr>
        <p:spPr>
          <a:xfrm>
            <a:off x="3337560" y="2751626"/>
            <a:ext cx="2377441" cy="7238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000">
                <a:solidFill>
                  <a:srgbClr val="374151"/>
                </a:solidFill>
              </a:defRPr>
            </a:lvl1pPr>
          </a:lstStyle>
          <a:p>
            <a:pPr/>
            <a:r>
              <a:t>Lightweight blockchain records every trade. Each kWh gets a 'Green Passport' — traceable source, time, carbon saved. Visible to both parties.</a:t>
            </a:r>
          </a:p>
        </p:txBody>
      </p:sp>
      <p:sp>
        <p:nvSpPr>
          <p:cNvPr id="172" name="Shape 13"/>
          <p:cNvSpPr/>
          <p:nvPr/>
        </p:nvSpPr>
        <p:spPr>
          <a:xfrm>
            <a:off x="6080759" y="1719072"/>
            <a:ext cx="2651761" cy="2057401"/>
          </a:xfrm>
          <a:prstGeom prst="rect">
            <a:avLst/>
          </a:prstGeom>
          <a:solidFill>
            <a:srgbClr val="FEF3C7"/>
          </a:solidFill>
          <a:ln w="15240">
            <a:solidFill>
              <a:srgbClr val="B7770D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73" name="Shape 14"/>
          <p:cNvSpPr/>
          <p:nvPr/>
        </p:nvSpPr>
        <p:spPr>
          <a:xfrm>
            <a:off x="6080759" y="1719072"/>
            <a:ext cx="457201" cy="384049"/>
          </a:xfrm>
          <a:prstGeom prst="rect">
            <a:avLst/>
          </a:prstGeom>
          <a:solidFill>
            <a:srgbClr val="B7770D"/>
          </a:solidFill>
          <a:ln w="12700">
            <a:solidFill>
              <a:srgbClr val="B7770D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74" name="Text 15"/>
          <p:cNvSpPr txBox="1"/>
          <p:nvPr/>
        </p:nvSpPr>
        <p:spPr>
          <a:xfrm>
            <a:off x="6080759" y="1832663"/>
            <a:ext cx="457201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200">
                <a:solidFill>
                  <a:srgbClr val="FFFFFF"/>
                </a:solidFill>
              </a:defRPr>
            </a:lvl1pPr>
          </a:lstStyle>
          <a:p>
            <a:pPr/>
            <a:r>
              <a:t>03</a:t>
            </a:r>
          </a:p>
        </p:txBody>
      </p:sp>
      <p:sp>
        <p:nvSpPr>
          <p:cNvPr id="175" name="Text 16"/>
          <p:cNvSpPr txBox="1"/>
          <p:nvPr/>
        </p:nvSpPr>
        <p:spPr>
          <a:xfrm>
            <a:off x="6217920" y="2216711"/>
            <a:ext cx="2377441" cy="248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200">
                <a:solidFill>
                  <a:srgbClr val="1A3A5C"/>
                </a:solidFill>
              </a:defRPr>
            </a:lvl1pPr>
          </a:lstStyle>
          <a:p>
            <a:pPr/>
            <a:r>
              <a:t>Community Investment Hub</a:t>
            </a:r>
          </a:p>
        </p:txBody>
      </p:sp>
      <p:sp>
        <p:nvSpPr>
          <p:cNvPr id="176" name="Text 17"/>
          <p:cNvSpPr txBox="1"/>
          <p:nvPr/>
        </p:nvSpPr>
        <p:spPr>
          <a:xfrm>
            <a:off x="6217920" y="2751626"/>
            <a:ext cx="2377441" cy="7238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000">
                <a:solidFill>
                  <a:srgbClr val="374151"/>
                </a:solidFill>
              </a:defRPr>
            </a:lvl1pPr>
          </a:lstStyle>
          <a:p>
            <a:pPr/>
            <a:r>
              <a:t>Citizens invest ₹5,000–₹50,000 in local solar projects. Returns split automatically via platform wallet as energy is sold. Phase 2 feature.</a:t>
            </a:r>
          </a:p>
        </p:txBody>
      </p:sp>
      <p:sp>
        <p:nvSpPr>
          <p:cNvPr id="177" name="Shape 18"/>
          <p:cNvSpPr/>
          <p:nvPr/>
        </p:nvSpPr>
        <p:spPr>
          <a:xfrm>
            <a:off x="320040" y="3977640"/>
            <a:ext cx="8503920" cy="822961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78" name="Text 19"/>
          <p:cNvSpPr txBox="1"/>
          <p:nvPr/>
        </p:nvSpPr>
        <p:spPr>
          <a:xfrm>
            <a:off x="502919" y="4065954"/>
            <a:ext cx="1188722" cy="2257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100">
                <a:solidFill>
                  <a:srgbClr val="FFFFFF"/>
                </a:solidFill>
              </a:defRPr>
            </a:lvl1pPr>
          </a:lstStyle>
          <a:p>
            <a:pPr/>
            <a:r>
              <a:t>Revenue Model:</a:t>
            </a:r>
          </a:p>
        </p:txBody>
      </p:sp>
      <p:sp>
        <p:nvSpPr>
          <p:cNvPr id="179" name="Text 20"/>
          <p:cNvSpPr txBox="1"/>
          <p:nvPr/>
        </p:nvSpPr>
        <p:spPr>
          <a:xfrm>
            <a:off x="1783080" y="4269291"/>
            <a:ext cx="2194561" cy="2488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000">
                <a:solidFill>
                  <a:srgbClr val="9BB8D4"/>
                </a:solidFill>
              </a:defRPr>
            </a:lvl1pPr>
          </a:lstStyle>
          <a:p>
            <a:pPr/>
            <a:r>
              <a:t>▶  2.5% transaction fee per trade</a:t>
            </a:r>
          </a:p>
        </p:txBody>
      </p:sp>
      <p:sp>
        <p:nvSpPr>
          <p:cNvPr id="180" name="Text 21"/>
          <p:cNvSpPr txBox="1"/>
          <p:nvPr/>
        </p:nvSpPr>
        <p:spPr>
          <a:xfrm>
            <a:off x="4160520" y="4269291"/>
            <a:ext cx="2194561" cy="2488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000">
                <a:solidFill>
                  <a:srgbClr val="9BB8D4"/>
                </a:solidFill>
              </a:defRPr>
            </a:lvl1pPr>
          </a:lstStyle>
          <a:p>
            <a:pPr/>
            <a:r>
              <a:t>▶  ₹500–₹2,000 / Green Certificate</a:t>
            </a:r>
          </a:p>
        </p:txBody>
      </p:sp>
      <p:sp>
        <p:nvSpPr>
          <p:cNvPr id="181" name="Text 22"/>
          <p:cNvSpPr txBox="1"/>
          <p:nvPr/>
        </p:nvSpPr>
        <p:spPr>
          <a:xfrm>
            <a:off x="6537959" y="4269291"/>
            <a:ext cx="2194561" cy="2488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000">
                <a:solidFill>
                  <a:srgbClr val="9BB8D4"/>
                </a:solidFill>
              </a:defRPr>
            </a:lvl1pPr>
          </a:lstStyle>
          <a:p>
            <a:pPr/>
            <a:r>
              <a:t>▶  1% AUM — Investment module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Text 0"/>
          <p:cNvSpPr txBox="1"/>
          <p:nvPr/>
        </p:nvSpPr>
        <p:spPr>
          <a:xfrm>
            <a:off x="457200" y="265536"/>
            <a:ext cx="8229600" cy="3010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400">
                <a:solidFill>
                  <a:srgbClr val="1A3A5C"/>
                </a:solidFill>
              </a:defRPr>
            </a:lvl1pPr>
          </a:lstStyle>
          <a:p>
            <a:pPr/>
            <a:r>
              <a:t>06  |  Gaps Identified → Our Solutions</a:t>
            </a:r>
          </a:p>
        </p:txBody>
      </p:sp>
      <p:sp>
        <p:nvSpPr>
          <p:cNvPr id="184" name="Shape 1"/>
          <p:cNvSpPr/>
          <p:nvPr/>
        </p:nvSpPr>
        <p:spPr>
          <a:xfrm>
            <a:off x="457200" y="713231"/>
            <a:ext cx="8229600" cy="1"/>
          </a:xfrm>
          <a:prstGeom prst="line">
            <a:avLst/>
          </a:prstGeom>
          <a:ln w="25400">
            <a:solidFill>
              <a:srgbClr val="2E7D4F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85" name="Shape 2"/>
          <p:cNvSpPr/>
          <p:nvPr/>
        </p:nvSpPr>
        <p:spPr>
          <a:xfrm>
            <a:off x="320040" y="822960"/>
            <a:ext cx="4114801" cy="310897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86" name="Text 3"/>
          <p:cNvSpPr txBox="1"/>
          <p:nvPr/>
        </p:nvSpPr>
        <p:spPr>
          <a:xfrm>
            <a:off x="411479" y="911274"/>
            <a:ext cx="3931922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100">
                <a:solidFill>
                  <a:srgbClr val="FFFFFF"/>
                </a:solidFill>
              </a:defRPr>
            </a:lvl1pPr>
          </a:lstStyle>
          <a:p>
            <a:pPr/>
            <a:r>
              <a:t>Gap in Current System</a:t>
            </a:r>
          </a:p>
        </p:txBody>
      </p:sp>
      <p:sp>
        <p:nvSpPr>
          <p:cNvPr id="187" name="Shape 4"/>
          <p:cNvSpPr/>
          <p:nvPr/>
        </p:nvSpPr>
        <p:spPr>
          <a:xfrm>
            <a:off x="4663440" y="822960"/>
            <a:ext cx="4114801" cy="310897"/>
          </a:xfrm>
          <a:prstGeom prst="rect">
            <a:avLst/>
          </a:prstGeom>
          <a:solidFill>
            <a:srgbClr val="2E7D4F"/>
          </a:solidFill>
          <a:ln w="12700">
            <a:solidFill>
              <a:srgbClr val="2E7D4F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88" name="Text 5"/>
          <p:cNvSpPr txBox="1"/>
          <p:nvPr/>
        </p:nvSpPr>
        <p:spPr>
          <a:xfrm>
            <a:off x="4754879" y="911274"/>
            <a:ext cx="3931921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100">
                <a:solidFill>
                  <a:srgbClr val="FFFFFF"/>
                </a:solidFill>
              </a:defRPr>
            </a:lvl1pPr>
          </a:lstStyle>
          <a:p>
            <a:pPr/>
            <a:r>
              <a:t>Our Solution</a:t>
            </a:r>
          </a:p>
        </p:txBody>
      </p:sp>
      <p:sp>
        <p:nvSpPr>
          <p:cNvPr id="189" name="Shape 6"/>
          <p:cNvSpPr/>
          <p:nvPr/>
        </p:nvSpPr>
        <p:spPr>
          <a:xfrm>
            <a:off x="320040" y="1170432"/>
            <a:ext cx="4114801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90" name="Shape 7"/>
          <p:cNvSpPr/>
          <p:nvPr/>
        </p:nvSpPr>
        <p:spPr>
          <a:xfrm>
            <a:off x="320040" y="1170432"/>
            <a:ext cx="73153" cy="47548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91" name="Text 8"/>
          <p:cNvSpPr txBox="1"/>
          <p:nvPr/>
        </p:nvSpPr>
        <p:spPr>
          <a:xfrm>
            <a:off x="521208" y="1303064"/>
            <a:ext cx="3749040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000">
                <a:solidFill>
                  <a:srgbClr val="374151"/>
                </a:solidFill>
              </a:defRPr>
            </a:lvl1pPr>
          </a:lstStyle>
          <a:p>
            <a:pPr/>
            <a:r>
              <a:t>No open marketplace — forced to sell at DISCOM fixed rates</a:t>
            </a:r>
          </a:p>
        </p:txBody>
      </p:sp>
      <p:sp>
        <p:nvSpPr>
          <p:cNvPr id="192" name="Text 9"/>
          <p:cNvSpPr txBox="1"/>
          <p:nvPr/>
        </p:nvSpPr>
        <p:spPr>
          <a:xfrm>
            <a:off x="4489704" y="1281492"/>
            <a:ext cx="137161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400">
                <a:solidFill>
                  <a:srgbClr val="1A3A5C"/>
                </a:solidFill>
              </a:defRPr>
            </a:lvl1pPr>
          </a:lstStyle>
          <a:p>
            <a:pPr/>
            <a:r>
              <a:t>→</a:t>
            </a:r>
          </a:p>
        </p:txBody>
      </p:sp>
      <p:sp>
        <p:nvSpPr>
          <p:cNvPr id="193" name="Shape 10"/>
          <p:cNvSpPr/>
          <p:nvPr/>
        </p:nvSpPr>
        <p:spPr>
          <a:xfrm>
            <a:off x="4663440" y="1170432"/>
            <a:ext cx="4114801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94" name="Shape 11"/>
          <p:cNvSpPr/>
          <p:nvPr/>
        </p:nvSpPr>
        <p:spPr>
          <a:xfrm>
            <a:off x="4663440" y="1170432"/>
            <a:ext cx="73153" cy="475488"/>
          </a:xfrm>
          <a:prstGeom prst="rect">
            <a:avLst/>
          </a:prstGeom>
          <a:solidFill>
            <a:srgbClr val="2E7D4F"/>
          </a:solidFill>
          <a:ln w="12700">
            <a:solidFill>
              <a:srgbClr val="2E7D4F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95" name="Text 12"/>
          <p:cNvSpPr txBox="1"/>
          <p:nvPr/>
        </p:nvSpPr>
        <p:spPr>
          <a:xfrm>
            <a:off x="4873752" y="1220514"/>
            <a:ext cx="3749040" cy="3936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000">
                <a:solidFill>
                  <a:srgbClr val="374151"/>
                </a:solidFill>
              </a:defRPr>
            </a:lvl1pPr>
          </a:lstStyle>
          <a:p>
            <a:pPr/>
            <a:r>
              <a:t>Open bidding board with dynamic market pricing — producer sets ask price</a:t>
            </a:r>
          </a:p>
        </p:txBody>
      </p:sp>
      <p:sp>
        <p:nvSpPr>
          <p:cNvPr id="196" name="Shape 13"/>
          <p:cNvSpPr/>
          <p:nvPr/>
        </p:nvSpPr>
        <p:spPr>
          <a:xfrm>
            <a:off x="320040" y="1682495"/>
            <a:ext cx="4114801" cy="475488"/>
          </a:xfrm>
          <a:prstGeom prst="rect">
            <a:avLst/>
          </a:prstGeom>
          <a:solidFill>
            <a:srgbClr val="F7F8FA"/>
          </a:solidFill>
          <a:ln w="6350">
            <a:solidFill>
              <a:srgbClr val="E5E7E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97" name="Shape 14"/>
          <p:cNvSpPr/>
          <p:nvPr/>
        </p:nvSpPr>
        <p:spPr>
          <a:xfrm>
            <a:off x="320040" y="1682495"/>
            <a:ext cx="73153" cy="47548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98" name="Text 15"/>
          <p:cNvSpPr txBox="1"/>
          <p:nvPr/>
        </p:nvSpPr>
        <p:spPr>
          <a:xfrm>
            <a:off x="521208" y="1815128"/>
            <a:ext cx="3749040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000">
                <a:solidFill>
                  <a:srgbClr val="374151"/>
                </a:solidFill>
              </a:defRPr>
            </a:lvl1pPr>
          </a:lstStyle>
          <a:p>
            <a:pPr/>
            <a:r>
              <a:t>Surplus solar wasted during peak hours — no real-time outlet</a:t>
            </a:r>
          </a:p>
        </p:txBody>
      </p:sp>
      <p:sp>
        <p:nvSpPr>
          <p:cNvPr id="199" name="Text 16"/>
          <p:cNvSpPr txBox="1"/>
          <p:nvPr/>
        </p:nvSpPr>
        <p:spPr>
          <a:xfrm>
            <a:off x="4489704" y="1793556"/>
            <a:ext cx="137161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400">
                <a:solidFill>
                  <a:srgbClr val="1A3A5C"/>
                </a:solidFill>
              </a:defRPr>
            </a:lvl1pPr>
          </a:lstStyle>
          <a:p>
            <a:pPr/>
            <a:r>
              <a:t>→</a:t>
            </a:r>
          </a:p>
        </p:txBody>
      </p:sp>
      <p:sp>
        <p:nvSpPr>
          <p:cNvPr id="200" name="Shape 17"/>
          <p:cNvSpPr/>
          <p:nvPr/>
        </p:nvSpPr>
        <p:spPr>
          <a:xfrm>
            <a:off x="4663440" y="1682495"/>
            <a:ext cx="4114801" cy="475488"/>
          </a:xfrm>
          <a:prstGeom prst="rect">
            <a:avLst/>
          </a:prstGeom>
          <a:solidFill>
            <a:srgbClr val="F7F8FA"/>
          </a:solidFill>
          <a:ln w="6350">
            <a:solidFill>
              <a:srgbClr val="E5E7E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01" name="Shape 18"/>
          <p:cNvSpPr/>
          <p:nvPr/>
        </p:nvSpPr>
        <p:spPr>
          <a:xfrm>
            <a:off x="4663440" y="1682495"/>
            <a:ext cx="73153" cy="475488"/>
          </a:xfrm>
          <a:prstGeom prst="rect">
            <a:avLst/>
          </a:prstGeom>
          <a:solidFill>
            <a:srgbClr val="2E7D4F"/>
          </a:solidFill>
          <a:ln w="12700">
            <a:solidFill>
              <a:srgbClr val="2E7D4F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02" name="Text 19"/>
          <p:cNvSpPr txBox="1"/>
          <p:nvPr/>
        </p:nvSpPr>
        <p:spPr>
          <a:xfrm>
            <a:off x="4873752" y="1732578"/>
            <a:ext cx="3749040" cy="3936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000">
                <a:solidFill>
                  <a:srgbClr val="374151"/>
                </a:solidFill>
              </a:defRPr>
            </a:lvl1pPr>
          </a:lstStyle>
          <a:p>
            <a:pPr/>
            <a:r>
              <a:t>Real-time auction board with 15-min settlement; matches nearest consumer</a:t>
            </a:r>
          </a:p>
        </p:txBody>
      </p:sp>
      <p:sp>
        <p:nvSpPr>
          <p:cNvPr id="203" name="Shape 20"/>
          <p:cNvSpPr/>
          <p:nvPr/>
        </p:nvSpPr>
        <p:spPr>
          <a:xfrm>
            <a:off x="320040" y="2194560"/>
            <a:ext cx="4114801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04" name="Shape 21"/>
          <p:cNvSpPr/>
          <p:nvPr/>
        </p:nvSpPr>
        <p:spPr>
          <a:xfrm>
            <a:off x="320040" y="2194560"/>
            <a:ext cx="73153" cy="47548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05" name="Text 22"/>
          <p:cNvSpPr txBox="1"/>
          <p:nvPr/>
        </p:nvSpPr>
        <p:spPr>
          <a:xfrm>
            <a:off x="521208" y="2327192"/>
            <a:ext cx="3749040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000">
                <a:solidFill>
                  <a:srgbClr val="374151"/>
                </a:solidFill>
              </a:defRPr>
            </a:lvl1pPr>
          </a:lstStyle>
          <a:p>
            <a:pPr/>
            <a:r>
              <a:t>No transparency — can't verify energy source or pricing</a:t>
            </a:r>
          </a:p>
        </p:txBody>
      </p:sp>
      <p:sp>
        <p:nvSpPr>
          <p:cNvPr id="206" name="Text 23"/>
          <p:cNvSpPr txBox="1"/>
          <p:nvPr/>
        </p:nvSpPr>
        <p:spPr>
          <a:xfrm>
            <a:off x="4489704" y="2305620"/>
            <a:ext cx="137161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400">
                <a:solidFill>
                  <a:srgbClr val="1A3A5C"/>
                </a:solidFill>
              </a:defRPr>
            </a:lvl1pPr>
          </a:lstStyle>
          <a:p>
            <a:pPr/>
            <a:r>
              <a:t>→</a:t>
            </a:r>
          </a:p>
        </p:txBody>
      </p:sp>
      <p:sp>
        <p:nvSpPr>
          <p:cNvPr id="207" name="Shape 24"/>
          <p:cNvSpPr/>
          <p:nvPr/>
        </p:nvSpPr>
        <p:spPr>
          <a:xfrm>
            <a:off x="4663440" y="2194560"/>
            <a:ext cx="4114801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08" name="Shape 25"/>
          <p:cNvSpPr/>
          <p:nvPr/>
        </p:nvSpPr>
        <p:spPr>
          <a:xfrm>
            <a:off x="4663440" y="2194560"/>
            <a:ext cx="73153" cy="475488"/>
          </a:xfrm>
          <a:prstGeom prst="rect">
            <a:avLst/>
          </a:prstGeom>
          <a:solidFill>
            <a:srgbClr val="2E7D4F"/>
          </a:solidFill>
          <a:ln w="12700">
            <a:solidFill>
              <a:srgbClr val="2E7D4F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09" name="Text 26"/>
          <p:cNvSpPr txBox="1"/>
          <p:nvPr/>
        </p:nvSpPr>
        <p:spPr>
          <a:xfrm>
            <a:off x="4873752" y="2327192"/>
            <a:ext cx="3749040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000">
                <a:solidFill>
                  <a:srgbClr val="374151"/>
                </a:solidFill>
              </a:defRPr>
            </a:lvl1pPr>
          </a:lstStyle>
          <a:p>
            <a:pPr/>
            <a:r>
              <a:t>Blockchain ledger gives every kWh a traceable 'Green Passport'</a:t>
            </a:r>
          </a:p>
        </p:txBody>
      </p:sp>
      <p:sp>
        <p:nvSpPr>
          <p:cNvPr id="210" name="Shape 27"/>
          <p:cNvSpPr/>
          <p:nvPr/>
        </p:nvSpPr>
        <p:spPr>
          <a:xfrm>
            <a:off x="320040" y="2706623"/>
            <a:ext cx="4114801" cy="475488"/>
          </a:xfrm>
          <a:prstGeom prst="rect">
            <a:avLst/>
          </a:prstGeom>
          <a:solidFill>
            <a:srgbClr val="F7F8FA"/>
          </a:solidFill>
          <a:ln w="6350">
            <a:solidFill>
              <a:srgbClr val="E5E7E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11" name="Shape 28"/>
          <p:cNvSpPr/>
          <p:nvPr/>
        </p:nvSpPr>
        <p:spPr>
          <a:xfrm>
            <a:off x="320040" y="2706623"/>
            <a:ext cx="73153" cy="47548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12" name="Text 29"/>
          <p:cNvSpPr txBox="1"/>
          <p:nvPr/>
        </p:nvSpPr>
        <p:spPr>
          <a:xfrm>
            <a:off x="521208" y="2839256"/>
            <a:ext cx="3749040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000">
                <a:solidFill>
                  <a:srgbClr val="374151"/>
                </a:solidFill>
              </a:defRPr>
            </a:lvl1pPr>
          </a:lstStyle>
          <a:p>
            <a:pPr/>
            <a:r>
              <a:t>High entry barrier — 2–5 kW systems excluded from all platforms</a:t>
            </a:r>
          </a:p>
        </p:txBody>
      </p:sp>
      <p:sp>
        <p:nvSpPr>
          <p:cNvPr id="213" name="Text 30"/>
          <p:cNvSpPr txBox="1"/>
          <p:nvPr/>
        </p:nvSpPr>
        <p:spPr>
          <a:xfrm>
            <a:off x="4489704" y="2817684"/>
            <a:ext cx="137161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400">
                <a:solidFill>
                  <a:srgbClr val="1A3A5C"/>
                </a:solidFill>
              </a:defRPr>
            </a:lvl1pPr>
          </a:lstStyle>
          <a:p>
            <a:pPr/>
            <a:r>
              <a:t>→</a:t>
            </a:r>
          </a:p>
        </p:txBody>
      </p:sp>
      <p:sp>
        <p:nvSpPr>
          <p:cNvPr id="214" name="Shape 31"/>
          <p:cNvSpPr/>
          <p:nvPr/>
        </p:nvSpPr>
        <p:spPr>
          <a:xfrm>
            <a:off x="4663440" y="2706623"/>
            <a:ext cx="4114801" cy="475488"/>
          </a:xfrm>
          <a:prstGeom prst="rect">
            <a:avLst/>
          </a:prstGeom>
          <a:solidFill>
            <a:srgbClr val="F7F8FA"/>
          </a:solidFill>
          <a:ln w="6350">
            <a:solidFill>
              <a:srgbClr val="E5E7E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15" name="Shape 32"/>
          <p:cNvSpPr/>
          <p:nvPr/>
        </p:nvSpPr>
        <p:spPr>
          <a:xfrm>
            <a:off x="4663440" y="2706623"/>
            <a:ext cx="73153" cy="475488"/>
          </a:xfrm>
          <a:prstGeom prst="rect">
            <a:avLst/>
          </a:prstGeom>
          <a:solidFill>
            <a:srgbClr val="2E7D4F"/>
          </a:solidFill>
          <a:ln w="12700">
            <a:solidFill>
              <a:srgbClr val="2E7D4F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16" name="Text 33"/>
          <p:cNvSpPr txBox="1"/>
          <p:nvPr/>
        </p:nvSpPr>
        <p:spPr>
          <a:xfrm>
            <a:off x="4873752" y="2839256"/>
            <a:ext cx="3749040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000">
                <a:solidFill>
                  <a:srgbClr val="374151"/>
                </a:solidFill>
              </a:defRPr>
            </a:lvl1pPr>
          </a:lstStyle>
          <a:p>
            <a:pPr/>
            <a:r>
              <a:t>No minimum size. Any grid-connected system can list. Hindi-first app.</a:t>
            </a:r>
          </a:p>
        </p:txBody>
      </p:sp>
      <p:sp>
        <p:nvSpPr>
          <p:cNvPr id="217" name="Shape 34"/>
          <p:cNvSpPr/>
          <p:nvPr/>
        </p:nvSpPr>
        <p:spPr>
          <a:xfrm>
            <a:off x="320040" y="3218688"/>
            <a:ext cx="4114801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18" name="Shape 35"/>
          <p:cNvSpPr/>
          <p:nvPr/>
        </p:nvSpPr>
        <p:spPr>
          <a:xfrm>
            <a:off x="320040" y="3218688"/>
            <a:ext cx="73153" cy="47548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19" name="Text 36"/>
          <p:cNvSpPr txBox="1"/>
          <p:nvPr/>
        </p:nvSpPr>
        <p:spPr>
          <a:xfrm>
            <a:off x="521208" y="3351320"/>
            <a:ext cx="3749040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000">
                <a:solidFill>
                  <a:srgbClr val="374151"/>
                </a:solidFill>
              </a:defRPr>
            </a:lvl1pPr>
          </a:lstStyle>
          <a:p>
            <a:pPr/>
            <a:r>
              <a:t>No investment channel for non-solar citizens</a:t>
            </a:r>
          </a:p>
        </p:txBody>
      </p:sp>
      <p:sp>
        <p:nvSpPr>
          <p:cNvPr id="220" name="Text 37"/>
          <p:cNvSpPr txBox="1"/>
          <p:nvPr/>
        </p:nvSpPr>
        <p:spPr>
          <a:xfrm>
            <a:off x="4489704" y="3329748"/>
            <a:ext cx="137161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400">
                <a:solidFill>
                  <a:srgbClr val="1A3A5C"/>
                </a:solidFill>
              </a:defRPr>
            </a:lvl1pPr>
          </a:lstStyle>
          <a:p>
            <a:pPr/>
            <a:r>
              <a:t>→</a:t>
            </a:r>
          </a:p>
        </p:txBody>
      </p:sp>
      <p:sp>
        <p:nvSpPr>
          <p:cNvPr id="221" name="Shape 38"/>
          <p:cNvSpPr/>
          <p:nvPr/>
        </p:nvSpPr>
        <p:spPr>
          <a:xfrm>
            <a:off x="4663440" y="3218688"/>
            <a:ext cx="4114801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22" name="Shape 39"/>
          <p:cNvSpPr/>
          <p:nvPr/>
        </p:nvSpPr>
        <p:spPr>
          <a:xfrm>
            <a:off x="4663440" y="3218688"/>
            <a:ext cx="73153" cy="475488"/>
          </a:xfrm>
          <a:prstGeom prst="rect">
            <a:avLst/>
          </a:prstGeom>
          <a:solidFill>
            <a:srgbClr val="2E7D4F"/>
          </a:solidFill>
          <a:ln w="12700">
            <a:solidFill>
              <a:srgbClr val="2E7D4F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23" name="Text 40"/>
          <p:cNvSpPr txBox="1"/>
          <p:nvPr/>
        </p:nvSpPr>
        <p:spPr>
          <a:xfrm>
            <a:off x="4873752" y="3351320"/>
            <a:ext cx="3749040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000">
                <a:solidFill>
                  <a:srgbClr val="374151"/>
                </a:solidFill>
              </a:defRPr>
            </a:lvl1pPr>
          </a:lstStyle>
          <a:p>
            <a:pPr/>
            <a:r>
              <a:t>Community investment hub — ₹5,000 minimum, UPI returns (Phase 2)</a:t>
            </a:r>
          </a:p>
        </p:txBody>
      </p:sp>
      <p:sp>
        <p:nvSpPr>
          <p:cNvPr id="224" name="Shape 41"/>
          <p:cNvSpPr/>
          <p:nvPr/>
        </p:nvSpPr>
        <p:spPr>
          <a:xfrm>
            <a:off x="320040" y="3730752"/>
            <a:ext cx="4114801" cy="475488"/>
          </a:xfrm>
          <a:prstGeom prst="rect">
            <a:avLst/>
          </a:prstGeom>
          <a:solidFill>
            <a:srgbClr val="F7F8FA"/>
          </a:solidFill>
          <a:ln w="6350">
            <a:solidFill>
              <a:srgbClr val="E5E7E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25" name="Shape 42"/>
          <p:cNvSpPr/>
          <p:nvPr/>
        </p:nvSpPr>
        <p:spPr>
          <a:xfrm>
            <a:off x="320040" y="3730752"/>
            <a:ext cx="73153" cy="47548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26" name="Text 43"/>
          <p:cNvSpPr txBox="1"/>
          <p:nvPr/>
        </p:nvSpPr>
        <p:spPr>
          <a:xfrm>
            <a:off x="521208" y="3863384"/>
            <a:ext cx="3749040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000">
                <a:solidFill>
                  <a:srgbClr val="374151"/>
                </a:solidFill>
              </a:defRPr>
            </a:lvl1pPr>
          </a:lstStyle>
          <a:p>
            <a:pPr/>
            <a:r>
              <a:t>Grid stability concerns from uncontrolled P2P trading</a:t>
            </a:r>
          </a:p>
        </p:txBody>
      </p:sp>
      <p:sp>
        <p:nvSpPr>
          <p:cNvPr id="227" name="Text 44"/>
          <p:cNvSpPr txBox="1"/>
          <p:nvPr/>
        </p:nvSpPr>
        <p:spPr>
          <a:xfrm>
            <a:off x="4489704" y="3841812"/>
            <a:ext cx="137161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400">
                <a:solidFill>
                  <a:srgbClr val="1A3A5C"/>
                </a:solidFill>
              </a:defRPr>
            </a:lvl1pPr>
          </a:lstStyle>
          <a:p>
            <a:pPr/>
            <a:r>
              <a:t>→</a:t>
            </a:r>
          </a:p>
        </p:txBody>
      </p:sp>
      <p:sp>
        <p:nvSpPr>
          <p:cNvPr id="228" name="Shape 45"/>
          <p:cNvSpPr/>
          <p:nvPr/>
        </p:nvSpPr>
        <p:spPr>
          <a:xfrm>
            <a:off x="4663440" y="3730752"/>
            <a:ext cx="4114801" cy="475488"/>
          </a:xfrm>
          <a:prstGeom prst="rect">
            <a:avLst/>
          </a:prstGeom>
          <a:solidFill>
            <a:srgbClr val="F7F8FA"/>
          </a:solidFill>
          <a:ln w="6350">
            <a:solidFill>
              <a:srgbClr val="E5E7E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29" name="Shape 46"/>
          <p:cNvSpPr/>
          <p:nvPr/>
        </p:nvSpPr>
        <p:spPr>
          <a:xfrm>
            <a:off x="4663440" y="3730752"/>
            <a:ext cx="73153" cy="475488"/>
          </a:xfrm>
          <a:prstGeom prst="rect">
            <a:avLst/>
          </a:prstGeom>
          <a:solidFill>
            <a:srgbClr val="2E7D4F"/>
          </a:solidFill>
          <a:ln w="12700">
            <a:solidFill>
              <a:srgbClr val="2E7D4F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30" name="Text 47"/>
          <p:cNvSpPr txBox="1"/>
          <p:nvPr/>
        </p:nvSpPr>
        <p:spPr>
          <a:xfrm>
            <a:off x="4873752" y="3863384"/>
            <a:ext cx="3749040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000">
                <a:solidFill>
                  <a:srgbClr val="374151"/>
                </a:solidFill>
              </a:defRPr>
            </a:lvl1pPr>
          </a:lstStyle>
          <a:p>
            <a:pPr/>
            <a:r>
              <a:t>DISCOM integration layer — all trades notify via smart meter API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Text 0"/>
          <p:cNvSpPr txBox="1"/>
          <p:nvPr/>
        </p:nvSpPr>
        <p:spPr>
          <a:xfrm>
            <a:off x="457200" y="265536"/>
            <a:ext cx="8229600" cy="3010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400">
                <a:solidFill>
                  <a:srgbClr val="1A3A5C"/>
                </a:solidFill>
              </a:defRPr>
            </a:lvl1pPr>
          </a:lstStyle>
          <a:p>
            <a:pPr/>
            <a:r>
              <a:t>10  |  Unique Selling Proposition</a:t>
            </a:r>
          </a:p>
        </p:txBody>
      </p:sp>
      <p:sp>
        <p:nvSpPr>
          <p:cNvPr id="233" name="Shape 1"/>
          <p:cNvSpPr/>
          <p:nvPr/>
        </p:nvSpPr>
        <p:spPr>
          <a:xfrm>
            <a:off x="457200" y="713231"/>
            <a:ext cx="8229600" cy="1"/>
          </a:xfrm>
          <a:prstGeom prst="line">
            <a:avLst/>
          </a:prstGeom>
          <a:ln w="25400">
            <a:solidFill>
              <a:srgbClr val="2E7D4F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34" name="Shape 2"/>
          <p:cNvSpPr/>
          <p:nvPr/>
        </p:nvSpPr>
        <p:spPr>
          <a:xfrm>
            <a:off x="320040" y="868680"/>
            <a:ext cx="2606040" cy="1463041"/>
          </a:xfrm>
          <a:prstGeom prst="rect">
            <a:avLst/>
          </a:prstGeom>
          <a:solidFill>
            <a:srgbClr val="F7F8FA"/>
          </a:solidFill>
          <a:ln w="12700">
            <a:solidFill>
              <a:srgbClr val="E5E7E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35" name="Shape 3"/>
          <p:cNvSpPr/>
          <p:nvPr/>
        </p:nvSpPr>
        <p:spPr>
          <a:xfrm>
            <a:off x="429768" y="1005839"/>
            <a:ext cx="329185" cy="329185"/>
          </a:xfrm>
          <a:prstGeom prst="ellipse">
            <a:avLst/>
          </a:prstGeom>
          <a:solidFill>
            <a:srgbClr val="2E7D4F"/>
          </a:solidFill>
          <a:ln w="12700">
            <a:solidFill>
              <a:srgbClr val="2E7D4F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36" name="Text 4"/>
          <p:cNvSpPr txBox="1"/>
          <p:nvPr/>
        </p:nvSpPr>
        <p:spPr>
          <a:xfrm>
            <a:off x="429768" y="1103298"/>
            <a:ext cx="329185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100">
                <a:solidFill>
                  <a:srgbClr val="FFFFFF"/>
                </a:solidFill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237" name="Text 5"/>
          <p:cNvSpPr txBox="1"/>
          <p:nvPr/>
        </p:nvSpPr>
        <p:spPr>
          <a:xfrm>
            <a:off x="896111" y="1057578"/>
            <a:ext cx="1901954" cy="2257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100">
                <a:solidFill>
                  <a:srgbClr val="1A3A5C"/>
                </a:solidFill>
              </a:defRPr>
            </a:lvl1pPr>
          </a:lstStyle>
          <a:p>
            <a:pPr/>
            <a:r>
              <a:t>Built for Bharat</a:t>
            </a:r>
          </a:p>
        </p:txBody>
      </p:sp>
      <p:sp>
        <p:nvSpPr>
          <p:cNvPr id="238" name="Text 6"/>
          <p:cNvSpPr txBox="1"/>
          <p:nvPr/>
        </p:nvSpPr>
        <p:spPr>
          <a:xfrm>
            <a:off x="502920" y="1567732"/>
            <a:ext cx="2286001" cy="5587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000">
                <a:solidFill>
                  <a:srgbClr val="374151"/>
                </a:solidFill>
              </a:defRPr>
            </a:lvl1pPr>
          </a:lstStyle>
          <a:p>
            <a:pPr/>
            <a:r>
              <a:t>UPI payments. Hindi interface. Works on a ₹8,000 Android. Designed for first-gen smartphone users in Tier 2/3 cities.</a:t>
            </a:r>
          </a:p>
        </p:txBody>
      </p:sp>
      <p:sp>
        <p:nvSpPr>
          <p:cNvPr id="239" name="Shape 7"/>
          <p:cNvSpPr/>
          <p:nvPr/>
        </p:nvSpPr>
        <p:spPr>
          <a:xfrm>
            <a:off x="3154679" y="868680"/>
            <a:ext cx="2606041" cy="1463041"/>
          </a:xfrm>
          <a:prstGeom prst="rect">
            <a:avLst/>
          </a:prstGeom>
          <a:solidFill>
            <a:srgbClr val="F7F8FA"/>
          </a:solidFill>
          <a:ln w="12700">
            <a:solidFill>
              <a:srgbClr val="E5E7E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40" name="Shape 8"/>
          <p:cNvSpPr/>
          <p:nvPr/>
        </p:nvSpPr>
        <p:spPr>
          <a:xfrm>
            <a:off x="3264408" y="1005839"/>
            <a:ext cx="329185" cy="329185"/>
          </a:xfrm>
          <a:prstGeom prst="ellipse">
            <a:avLst/>
          </a:prstGeom>
          <a:solidFill>
            <a:srgbClr val="2E7D4F"/>
          </a:solidFill>
          <a:ln w="12700">
            <a:solidFill>
              <a:srgbClr val="2E7D4F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41" name="Text 9"/>
          <p:cNvSpPr txBox="1"/>
          <p:nvPr/>
        </p:nvSpPr>
        <p:spPr>
          <a:xfrm>
            <a:off x="3264408" y="1103298"/>
            <a:ext cx="329185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100">
                <a:solidFill>
                  <a:srgbClr val="FFFFFF"/>
                </a:solidFill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242" name="Text 10"/>
          <p:cNvSpPr txBox="1"/>
          <p:nvPr/>
        </p:nvSpPr>
        <p:spPr>
          <a:xfrm>
            <a:off x="3730752" y="1057578"/>
            <a:ext cx="1901953" cy="2257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100">
                <a:solidFill>
                  <a:srgbClr val="1A3A5C"/>
                </a:solidFill>
              </a:defRPr>
            </a:lvl1pPr>
          </a:lstStyle>
          <a:p>
            <a:pPr/>
            <a:r>
              <a:t>DISCOM-Cooperative</a:t>
            </a:r>
          </a:p>
        </p:txBody>
      </p:sp>
      <p:sp>
        <p:nvSpPr>
          <p:cNvPr id="243" name="Text 11"/>
          <p:cNvSpPr txBox="1"/>
          <p:nvPr/>
        </p:nvSpPr>
        <p:spPr>
          <a:xfrm>
            <a:off x="3337560" y="1567732"/>
            <a:ext cx="2286001" cy="5587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000">
                <a:solidFill>
                  <a:srgbClr val="374151"/>
                </a:solidFill>
              </a:defRPr>
            </a:lvl1pPr>
          </a:lstStyle>
          <a:p>
            <a:pPr/>
            <a:r>
              <a:t>We integrate with existing DISCOM smart meter infrastructure. Not hostile — we make them earn more and work smarter.</a:t>
            </a:r>
          </a:p>
        </p:txBody>
      </p:sp>
      <p:sp>
        <p:nvSpPr>
          <p:cNvPr id="244" name="Shape 12"/>
          <p:cNvSpPr/>
          <p:nvPr/>
        </p:nvSpPr>
        <p:spPr>
          <a:xfrm>
            <a:off x="5989320" y="868680"/>
            <a:ext cx="2606041" cy="1463041"/>
          </a:xfrm>
          <a:prstGeom prst="rect">
            <a:avLst/>
          </a:prstGeom>
          <a:solidFill>
            <a:srgbClr val="F7F8FA"/>
          </a:solidFill>
          <a:ln w="12700">
            <a:solidFill>
              <a:srgbClr val="E5E7E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45" name="Shape 13"/>
          <p:cNvSpPr/>
          <p:nvPr/>
        </p:nvSpPr>
        <p:spPr>
          <a:xfrm>
            <a:off x="6099047" y="1005839"/>
            <a:ext cx="329185" cy="329185"/>
          </a:xfrm>
          <a:prstGeom prst="ellipse">
            <a:avLst/>
          </a:prstGeom>
          <a:solidFill>
            <a:srgbClr val="2E7D4F"/>
          </a:solidFill>
          <a:ln w="12700">
            <a:solidFill>
              <a:srgbClr val="2E7D4F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46" name="Text 14"/>
          <p:cNvSpPr txBox="1"/>
          <p:nvPr/>
        </p:nvSpPr>
        <p:spPr>
          <a:xfrm>
            <a:off x="6099047" y="1103298"/>
            <a:ext cx="329185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100">
                <a:solidFill>
                  <a:srgbClr val="FFFFFF"/>
                </a:solidFill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247" name="Text 15"/>
          <p:cNvSpPr txBox="1"/>
          <p:nvPr/>
        </p:nvSpPr>
        <p:spPr>
          <a:xfrm>
            <a:off x="6565391" y="1057578"/>
            <a:ext cx="1901953" cy="2257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100">
                <a:solidFill>
                  <a:srgbClr val="1A3A5C"/>
                </a:solidFill>
              </a:defRPr>
            </a:lvl1pPr>
          </a:lstStyle>
          <a:p>
            <a:pPr/>
            <a:r>
              <a:t>Hyperlocal Matching</a:t>
            </a:r>
          </a:p>
        </p:txBody>
      </p:sp>
      <p:sp>
        <p:nvSpPr>
          <p:cNvPr id="248" name="Text 16"/>
          <p:cNvSpPr txBox="1"/>
          <p:nvPr/>
        </p:nvSpPr>
        <p:spPr>
          <a:xfrm>
            <a:off x="6172200" y="1567732"/>
            <a:ext cx="2286000" cy="5587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000">
                <a:solidFill>
                  <a:srgbClr val="374151"/>
                </a:solidFill>
              </a:defRPr>
            </a:lvl1pPr>
          </a:lstStyle>
          <a:p>
            <a:pPr/>
            <a:r>
              <a:t>Matches buyers and sellers on the same feeder — 1–2 km radius. Near-zero transmission loss. No one else does this.</a:t>
            </a:r>
          </a:p>
        </p:txBody>
      </p:sp>
      <p:sp>
        <p:nvSpPr>
          <p:cNvPr id="249" name="Shape 17"/>
          <p:cNvSpPr/>
          <p:nvPr/>
        </p:nvSpPr>
        <p:spPr>
          <a:xfrm>
            <a:off x="320040" y="2514600"/>
            <a:ext cx="2606040" cy="1463041"/>
          </a:xfrm>
          <a:prstGeom prst="rect">
            <a:avLst/>
          </a:prstGeom>
          <a:solidFill>
            <a:srgbClr val="F7F8FA"/>
          </a:solidFill>
          <a:ln w="12700">
            <a:solidFill>
              <a:srgbClr val="E5E7E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50" name="Shape 18"/>
          <p:cNvSpPr/>
          <p:nvPr/>
        </p:nvSpPr>
        <p:spPr>
          <a:xfrm>
            <a:off x="429768" y="2651760"/>
            <a:ext cx="329185" cy="329185"/>
          </a:xfrm>
          <a:prstGeom prst="ellipse">
            <a:avLst/>
          </a:prstGeom>
          <a:solidFill>
            <a:srgbClr val="2E7D4F"/>
          </a:solidFill>
          <a:ln w="12700">
            <a:solidFill>
              <a:srgbClr val="2E7D4F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51" name="Text 19"/>
          <p:cNvSpPr txBox="1"/>
          <p:nvPr/>
        </p:nvSpPr>
        <p:spPr>
          <a:xfrm>
            <a:off x="429768" y="2749218"/>
            <a:ext cx="329185" cy="1342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100">
                <a:solidFill>
                  <a:srgbClr val="FFFFFF"/>
                </a:solidFill>
              </a:defRPr>
            </a:lvl1pPr>
          </a:lstStyle>
          <a:p>
            <a:pPr/>
            <a:r>
              <a:t>4</a:t>
            </a:r>
          </a:p>
        </p:txBody>
      </p:sp>
      <p:sp>
        <p:nvSpPr>
          <p:cNvPr id="252" name="Text 20"/>
          <p:cNvSpPr txBox="1"/>
          <p:nvPr/>
        </p:nvSpPr>
        <p:spPr>
          <a:xfrm>
            <a:off x="896111" y="2703498"/>
            <a:ext cx="1901954" cy="2257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100">
                <a:solidFill>
                  <a:srgbClr val="1A3A5C"/>
                </a:solidFill>
              </a:defRPr>
            </a:lvl1pPr>
          </a:lstStyle>
          <a:p>
            <a:pPr/>
            <a:r>
              <a:t>No Minimum Size</a:t>
            </a:r>
          </a:p>
        </p:txBody>
      </p:sp>
      <p:sp>
        <p:nvSpPr>
          <p:cNvPr id="253" name="Text 21"/>
          <p:cNvSpPr txBox="1"/>
          <p:nvPr/>
        </p:nvSpPr>
        <p:spPr>
          <a:xfrm>
            <a:off x="502920" y="3213652"/>
            <a:ext cx="2286001" cy="5587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000">
                <a:solidFill>
                  <a:srgbClr val="374151"/>
                </a:solidFill>
              </a:defRPr>
            </a:lvl1pPr>
          </a:lstStyle>
          <a:p>
            <a:pPr/>
            <a:r>
              <a:t>A 2 kW system can trade. IEX requires 100 kW minimum. We serve 11 million small producers that all others ignore.</a:t>
            </a:r>
          </a:p>
        </p:txBody>
      </p:sp>
      <p:sp>
        <p:nvSpPr>
          <p:cNvPr id="254" name="Shape 22"/>
          <p:cNvSpPr/>
          <p:nvPr/>
        </p:nvSpPr>
        <p:spPr>
          <a:xfrm>
            <a:off x="3154679" y="2514600"/>
            <a:ext cx="2606041" cy="1463041"/>
          </a:xfrm>
          <a:prstGeom prst="rect">
            <a:avLst/>
          </a:prstGeom>
          <a:solidFill>
            <a:srgbClr val="F7F8FA"/>
          </a:solidFill>
          <a:ln w="12700">
            <a:solidFill>
              <a:srgbClr val="E5E7E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55" name="Shape 23"/>
          <p:cNvSpPr/>
          <p:nvPr/>
        </p:nvSpPr>
        <p:spPr>
          <a:xfrm>
            <a:off x="3264408" y="2651760"/>
            <a:ext cx="329185" cy="329185"/>
          </a:xfrm>
          <a:prstGeom prst="ellipse">
            <a:avLst/>
          </a:prstGeom>
          <a:solidFill>
            <a:srgbClr val="2E7D4F"/>
          </a:solidFill>
          <a:ln w="12700">
            <a:solidFill>
              <a:srgbClr val="2E7D4F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56" name="Text 24"/>
          <p:cNvSpPr txBox="1"/>
          <p:nvPr/>
        </p:nvSpPr>
        <p:spPr>
          <a:xfrm>
            <a:off x="3264408" y="2749218"/>
            <a:ext cx="329185" cy="1342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100">
                <a:solidFill>
                  <a:srgbClr val="FFFFFF"/>
                </a:solidFill>
              </a:defRPr>
            </a:lvl1pPr>
          </a:lstStyle>
          <a:p>
            <a:pPr/>
            <a:r>
              <a:t>5</a:t>
            </a:r>
          </a:p>
        </p:txBody>
      </p:sp>
      <p:sp>
        <p:nvSpPr>
          <p:cNvPr id="257" name="Text 25"/>
          <p:cNvSpPr txBox="1"/>
          <p:nvPr/>
        </p:nvSpPr>
        <p:spPr>
          <a:xfrm>
            <a:off x="3730752" y="2703498"/>
            <a:ext cx="1901953" cy="2257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100">
                <a:solidFill>
                  <a:srgbClr val="1A3A5C"/>
                </a:solidFill>
              </a:defRPr>
            </a:lvl1pPr>
          </a:lstStyle>
          <a:p>
            <a:pPr/>
            <a:r>
              <a:t>3-in-1 Platform</a:t>
            </a:r>
          </a:p>
        </p:txBody>
      </p:sp>
      <p:sp>
        <p:nvSpPr>
          <p:cNvPr id="258" name="Text 26"/>
          <p:cNvSpPr txBox="1"/>
          <p:nvPr/>
        </p:nvSpPr>
        <p:spPr>
          <a:xfrm>
            <a:off x="3337560" y="3213652"/>
            <a:ext cx="2286001" cy="5587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000">
                <a:solidFill>
                  <a:srgbClr val="374151"/>
                </a:solidFill>
              </a:defRPr>
            </a:lvl1pPr>
          </a:lstStyle>
          <a:p>
            <a:pPr/>
            <a:r>
              <a:t>Trading + Green Certification + Community Investment in one app. No single Indian platform combines all three.</a:t>
            </a:r>
          </a:p>
        </p:txBody>
      </p:sp>
      <p:sp>
        <p:nvSpPr>
          <p:cNvPr id="259" name="Shape 27"/>
          <p:cNvSpPr/>
          <p:nvPr/>
        </p:nvSpPr>
        <p:spPr>
          <a:xfrm>
            <a:off x="5989320" y="2514600"/>
            <a:ext cx="2606041" cy="1463041"/>
          </a:xfrm>
          <a:prstGeom prst="rect">
            <a:avLst/>
          </a:prstGeom>
          <a:solidFill>
            <a:srgbClr val="F7F8FA"/>
          </a:solidFill>
          <a:ln w="12700">
            <a:solidFill>
              <a:srgbClr val="E5E7E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60" name="Shape 28"/>
          <p:cNvSpPr/>
          <p:nvPr/>
        </p:nvSpPr>
        <p:spPr>
          <a:xfrm>
            <a:off x="6099047" y="2651760"/>
            <a:ext cx="329185" cy="329185"/>
          </a:xfrm>
          <a:prstGeom prst="ellipse">
            <a:avLst/>
          </a:prstGeom>
          <a:solidFill>
            <a:srgbClr val="2E7D4F"/>
          </a:solidFill>
          <a:ln w="12700">
            <a:solidFill>
              <a:srgbClr val="2E7D4F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61" name="Text 29"/>
          <p:cNvSpPr txBox="1"/>
          <p:nvPr/>
        </p:nvSpPr>
        <p:spPr>
          <a:xfrm>
            <a:off x="6099047" y="2749218"/>
            <a:ext cx="329185" cy="1342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100">
                <a:solidFill>
                  <a:srgbClr val="FFFFFF"/>
                </a:solidFill>
              </a:defRPr>
            </a:lvl1pPr>
          </a:lstStyle>
          <a:p>
            <a:pPr/>
            <a:r>
              <a:t>6</a:t>
            </a:r>
          </a:p>
        </p:txBody>
      </p:sp>
      <p:sp>
        <p:nvSpPr>
          <p:cNvPr id="262" name="Text 30"/>
          <p:cNvSpPr txBox="1"/>
          <p:nvPr/>
        </p:nvSpPr>
        <p:spPr>
          <a:xfrm>
            <a:off x="6565391" y="2703498"/>
            <a:ext cx="1901953" cy="2257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100">
                <a:solidFill>
                  <a:srgbClr val="1A3A5C"/>
                </a:solidFill>
              </a:defRPr>
            </a:lvl1pPr>
          </a:lstStyle>
          <a:p>
            <a:pPr/>
            <a:r>
              <a:t>Perfect Timing</a:t>
            </a:r>
          </a:p>
        </p:txBody>
      </p:sp>
      <p:sp>
        <p:nvSpPr>
          <p:cNvPr id="263" name="Text 31"/>
          <p:cNvSpPr txBox="1"/>
          <p:nvPr/>
        </p:nvSpPr>
        <p:spPr>
          <a:xfrm>
            <a:off x="6172200" y="3213652"/>
            <a:ext cx="2286000" cy="5587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000">
                <a:solidFill>
                  <a:srgbClr val="374151"/>
                </a:solidFill>
              </a:defRPr>
            </a:lvl1pPr>
          </a:lstStyle>
          <a:p>
            <a:pPr/>
            <a:r>
              <a:t>CERC P2P rules 2023. 250M smart meters by 2026. PM Surya Ghar adding 1 crore solar users. The window is now.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Text 0"/>
          <p:cNvSpPr txBox="1"/>
          <p:nvPr/>
        </p:nvSpPr>
        <p:spPr>
          <a:xfrm>
            <a:off x="457200" y="265536"/>
            <a:ext cx="8229600" cy="3010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400">
                <a:solidFill>
                  <a:srgbClr val="1A3A5C"/>
                </a:solidFill>
              </a:defRPr>
            </a:lvl1pPr>
          </a:lstStyle>
          <a:p>
            <a:pPr/>
            <a:r>
              <a:t>11  |  Real-Life Use Case</a:t>
            </a:r>
          </a:p>
        </p:txBody>
      </p:sp>
      <p:sp>
        <p:nvSpPr>
          <p:cNvPr id="266" name="Shape 1"/>
          <p:cNvSpPr/>
          <p:nvPr/>
        </p:nvSpPr>
        <p:spPr>
          <a:xfrm>
            <a:off x="457200" y="713231"/>
            <a:ext cx="8229600" cy="1"/>
          </a:xfrm>
          <a:prstGeom prst="line">
            <a:avLst/>
          </a:prstGeom>
          <a:ln w="25400">
            <a:solidFill>
              <a:srgbClr val="2E7D4F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67" name="Shape 2"/>
          <p:cNvSpPr/>
          <p:nvPr/>
        </p:nvSpPr>
        <p:spPr>
          <a:xfrm>
            <a:off x="1188719" y="822960"/>
            <a:ext cx="868681" cy="868681"/>
          </a:xfrm>
          <a:prstGeom prst="ellipse">
            <a:avLst/>
          </a:prstGeom>
          <a:solidFill>
            <a:srgbClr val="D6EFE0"/>
          </a:solidFill>
          <a:ln w="19050">
            <a:solidFill>
              <a:srgbClr val="2E7D4F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68" name="Text 3"/>
          <p:cNvSpPr txBox="1"/>
          <p:nvPr/>
        </p:nvSpPr>
        <p:spPr>
          <a:xfrm>
            <a:off x="1188719" y="1162620"/>
            <a:ext cx="868681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400">
                <a:solidFill>
                  <a:srgbClr val="2E7D4F"/>
                </a:solidFill>
              </a:defRPr>
            </a:lvl1pPr>
          </a:lstStyle>
          <a:p>
            <a:pPr/>
            <a:r>
              <a:t>RS</a:t>
            </a:r>
          </a:p>
        </p:txBody>
      </p:sp>
      <p:sp>
        <p:nvSpPr>
          <p:cNvPr id="269" name="Text 4"/>
          <p:cNvSpPr txBox="1"/>
          <p:nvPr/>
        </p:nvSpPr>
        <p:spPr>
          <a:xfrm>
            <a:off x="411479" y="1779954"/>
            <a:ext cx="2423162" cy="2257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1100">
                <a:solidFill>
                  <a:srgbClr val="1A3A5C"/>
                </a:solidFill>
              </a:defRPr>
            </a:lvl1pPr>
          </a:lstStyle>
          <a:p>
            <a:pPr/>
            <a:r>
              <a:t>Ramesh Sharma</a:t>
            </a:r>
          </a:p>
        </p:txBody>
      </p:sp>
      <p:sp>
        <p:nvSpPr>
          <p:cNvPr id="270" name="Text 5"/>
          <p:cNvSpPr txBox="1"/>
          <p:nvPr/>
        </p:nvSpPr>
        <p:spPr>
          <a:xfrm>
            <a:off x="411479" y="2076617"/>
            <a:ext cx="2423162" cy="3456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 algn="ctr">
              <a:defRPr sz="900">
                <a:solidFill>
                  <a:srgbClr val="6B7280"/>
                </a:solidFill>
              </a:defRPr>
            </a:pPr>
            <a:r>
              <a:t>Solar rooftop owner, Indore</a:t>
            </a:r>
          </a:p>
          <a:p>
            <a:pPr algn="ctr">
              <a:defRPr sz="900">
                <a:solidFill>
                  <a:srgbClr val="6B7280"/>
                </a:solidFill>
              </a:defRPr>
            </a:pPr>
            <a:r>
              <a:t>5 kW system installed 2023</a:t>
            </a:r>
          </a:p>
        </p:txBody>
      </p:sp>
      <p:sp>
        <p:nvSpPr>
          <p:cNvPr id="271" name="Shape 6"/>
          <p:cNvSpPr/>
          <p:nvPr/>
        </p:nvSpPr>
        <p:spPr>
          <a:xfrm>
            <a:off x="4069079" y="822960"/>
            <a:ext cx="868681" cy="868681"/>
          </a:xfrm>
          <a:prstGeom prst="ellipse">
            <a:avLst/>
          </a:prstGeom>
          <a:solidFill>
            <a:srgbClr val="EAF1FB"/>
          </a:solidFill>
          <a:ln w="19050">
            <a:solidFill>
              <a:srgbClr val="1A3A5C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72" name="Text 7"/>
          <p:cNvSpPr txBox="1"/>
          <p:nvPr/>
        </p:nvSpPr>
        <p:spPr>
          <a:xfrm>
            <a:off x="4069079" y="1162620"/>
            <a:ext cx="868681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400">
                <a:solidFill>
                  <a:srgbClr val="1A3A5C"/>
                </a:solidFill>
              </a:defRPr>
            </a:lvl1pPr>
          </a:lstStyle>
          <a:p>
            <a:pPr/>
            <a:r>
              <a:t>KP</a:t>
            </a:r>
          </a:p>
        </p:txBody>
      </p:sp>
      <p:sp>
        <p:nvSpPr>
          <p:cNvPr id="273" name="Text 8"/>
          <p:cNvSpPr txBox="1"/>
          <p:nvPr/>
        </p:nvSpPr>
        <p:spPr>
          <a:xfrm>
            <a:off x="3291840" y="1779954"/>
            <a:ext cx="2423161" cy="2257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1100">
                <a:solidFill>
                  <a:srgbClr val="1A3A5C"/>
                </a:solidFill>
              </a:defRPr>
            </a:lvl1pPr>
          </a:lstStyle>
          <a:p>
            <a:pPr/>
            <a:r>
              <a:t>Kavita Patel</a:t>
            </a:r>
          </a:p>
        </p:txBody>
      </p:sp>
      <p:sp>
        <p:nvSpPr>
          <p:cNvPr id="274" name="Text 9"/>
          <p:cNvSpPr txBox="1"/>
          <p:nvPr/>
        </p:nvSpPr>
        <p:spPr>
          <a:xfrm>
            <a:off x="3291840" y="2076617"/>
            <a:ext cx="2423161" cy="3456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 algn="ctr">
              <a:defRPr sz="900">
                <a:solidFill>
                  <a:srgbClr val="6B7280"/>
                </a:solidFill>
              </a:defRPr>
            </a:pPr>
            <a:r>
              <a:t>Runs a tailoring shop</a:t>
            </a:r>
          </a:p>
          <a:p>
            <a:pPr algn="ctr">
              <a:defRPr sz="900">
                <a:solidFill>
                  <a:srgbClr val="6B7280"/>
                </a:solidFill>
              </a:defRPr>
            </a:pPr>
            <a:r>
              <a:t>300m from Ramesh's house</a:t>
            </a:r>
          </a:p>
        </p:txBody>
      </p:sp>
      <p:sp>
        <p:nvSpPr>
          <p:cNvPr id="275" name="Shape 10"/>
          <p:cNvSpPr/>
          <p:nvPr/>
        </p:nvSpPr>
        <p:spPr>
          <a:xfrm>
            <a:off x="6949440" y="822960"/>
            <a:ext cx="868681" cy="868681"/>
          </a:xfrm>
          <a:prstGeom prst="ellipse">
            <a:avLst/>
          </a:prstGeom>
          <a:solidFill>
            <a:srgbClr val="FEF3C7"/>
          </a:solidFill>
          <a:ln w="19050">
            <a:solidFill>
              <a:srgbClr val="B7770D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76" name="Text 11"/>
          <p:cNvSpPr txBox="1"/>
          <p:nvPr/>
        </p:nvSpPr>
        <p:spPr>
          <a:xfrm>
            <a:off x="6949440" y="1162620"/>
            <a:ext cx="868681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400">
                <a:solidFill>
                  <a:srgbClr val="B7770D"/>
                </a:solidFill>
              </a:defRPr>
            </a:lvl1pPr>
          </a:lstStyle>
          <a:p>
            <a:pPr/>
            <a:r>
              <a:t>DB</a:t>
            </a:r>
          </a:p>
        </p:txBody>
      </p:sp>
      <p:sp>
        <p:nvSpPr>
          <p:cNvPr id="277" name="Text 12"/>
          <p:cNvSpPr txBox="1"/>
          <p:nvPr/>
        </p:nvSpPr>
        <p:spPr>
          <a:xfrm>
            <a:off x="6172200" y="1779954"/>
            <a:ext cx="2423161" cy="2257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1100">
                <a:solidFill>
                  <a:srgbClr val="1A3A5C"/>
                </a:solidFill>
              </a:defRPr>
            </a:lvl1pPr>
          </a:lstStyle>
          <a:p>
            <a:pPr/>
            <a:r>
              <a:t>DISCOM / MPEB</a:t>
            </a:r>
          </a:p>
        </p:txBody>
      </p:sp>
      <p:sp>
        <p:nvSpPr>
          <p:cNvPr id="278" name="Text 13"/>
          <p:cNvSpPr txBox="1"/>
          <p:nvPr/>
        </p:nvSpPr>
        <p:spPr>
          <a:xfrm>
            <a:off x="6172200" y="2076617"/>
            <a:ext cx="2423161" cy="3456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 algn="ctr">
              <a:defRPr sz="900">
                <a:solidFill>
                  <a:srgbClr val="6B7280"/>
                </a:solidFill>
              </a:defRPr>
            </a:pPr>
            <a:r>
              <a:t>Manages the local grid</a:t>
            </a:r>
          </a:p>
          <a:p>
            <a:pPr algn="ctr">
              <a:defRPr sz="900">
                <a:solidFill>
                  <a:srgbClr val="6B7280"/>
                </a:solidFill>
              </a:defRPr>
            </a:pPr>
            <a:r>
              <a:t>and smart meter data</a:t>
            </a:r>
          </a:p>
        </p:txBody>
      </p:sp>
      <p:sp>
        <p:nvSpPr>
          <p:cNvPr id="279" name="Shape 14"/>
          <p:cNvSpPr/>
          <p:nvPr/>
        </p:nvSpPr>
        <p:spPr>
          <a:xfrm>
            <a:off x="320040" y="2743200"/>
            <a:ext cx="274321" cy="274321"/>
          </a:xfrm>
          <a:prstGeom prst="ellipse">
            <a:avLst/>
          </a:prstGeom>
          <a:solidFill>
            <a:srgbClr val="2E7D4F"/>
          </a:solidFill>
          <a:ln w="12700">
            <a:solidFill>
              <a:srgbClr val="2E7D4F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80" name="Text 15"/>
          <p:cNvSpPr txBox="1"/>
          <p:nvPr/>
        </p:nvSpPr>
        <p:spPr>
          <a:xfrm>
            <a:off x="320040" y="2811824"/>
            <a:ext cx="274321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000">
                <a:solidFill>
                  <a:srgbClr val="FFFFFF"/>
                </a:solidFill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281" name="Text 16"/>
          <p:cNvSpPr txBox="1"/>
          <p:nvPr/>
        </p:nvSpPr>
        <p:spPr>
          <a:xfrm>
            <a:off x="758952" y="2822370"/>
            <a:ext cx="7955279" cy="2257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100">
                <a:solidFill>
                  <a:srgbClr val="374151"/>
                </a:solidFill>
              </a:defRPr>
            </a:lvl1pPr>
          </a:lstStyle>
          <a:p>
            <a:pPr/>
            <a:r>
              <a:t>Ramesh's panels produce 8 surplus units between 11am–3pm. He lists them on Enerex at ₹5.50/unit. Takes 30 seconds.</a:t>
            </a:r>
          </a:p>
        </p:txBody>
      </p:sp>
      <p:sp>
        <p:nvSpPr>
          <p:cNvPr id="282" name="Shape 17"/>
          <p:cNvSpPr/>
          <p:nvPr/>
        </p:nvSpPr>
        <p:spPr>
          <a:xfrm>
            <a:off x="320040" y="3200400"/>
            <a:ext cx="274321" cy="274321"/>
          </a:xfrm>
          <a:prstGeom prst="ellipse">
            <a:avLst/>
          </a:prstGeom>
          <a:solidFill>
            <a:srgbClr val="2E7D4F"/>
          </a:solidFill>
          <a:ln w="12700">
            <a:solidFill>
              <a:srgbClr val="2E7D4F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83" name="Text 18"/>
          <p:cNvSpPr txBox="1"/>
          <p:nvPr/>
        </p:nvSpPr>
        <p:spPr>
          <a:xfrm>
            <a:off x="320040" y="3269024"/>
            <a:ext cx="274321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000">
                <a:solidFill>
                  <a:srgbClr val="FFFFFF"/>
                </a:solidFill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284" name="Text 19"/>
          <p:cNvSpPr txBox="1"/>
          <p:nvPr/>
        </p:nvSpPr>
        <p:spPr>
          <a:xfrm>
            <a:off x="758952" y="3279570"/>
            <a:ext cx="7955279" cy="2257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100">
                <a:solidFill>
                  <a:srgbClr val="374151"/>
                </a:solidFill>
              </a:defRPr>
            </a:lvl1pPr>
          </a:lstStyle>
          <a:p>
            <a:pPr/>
            <a:r>
              <a:t>Kavita sees the listing in her feeder area. She accepts — pays ₹44 via UPI instead of ₹72 she'd pay the grid. Saves ₹28.</a:t>
            </a:r>
          </a:p>
        </p:txBody>
      </p:sp>
      <p:sp>
        <p:nvSpPr>
          <p:cNvPr id="285" name="Shape 20"/>
          <p:cNvSpPr/>
          <p:nvPr/>
        </p:nvSpPr>
        <p:spPr>
          <a:xfrm>
            <a:off x="320040" y="3657600"/>
            <a:ext cx="274321" cy="274321"/>
          </a:xfrm>
          <a:prstGeom prst="ellipse">
            <a:avLst/>
          </a:prstGeom>
          <a:solidFill>
            <a:srgbClr val="2E7D4F"/>
          </a:solidFill>
          <a:ln w="12700">
            <a:solidFill>
              <a:srgbClr val="2E7D4F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86" name="Text 21"/>
          <p:cNvSpPr txBox="1"/>
          <p:nvPr/>
        </p:nvSpPr>
        <p:spPr>
          <a:xfrm>
            <a:off x="320040" y="3726224"/>
            <a:ext cx="274321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000">
                <a:solidFill>
                  <a:srgbClr val="FFFFFF"/>
                </a:solidFill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287" name="Text 22"/>
          <p:cNvSpPr txBox="1"/>
          <p:nvPr/>
        </p:nvSpPr>
        <p:spPr>
          <a:xfrm>
            <a:off x="758952" y="3736770"/>
            <a:ext cx="7955279" cy="2257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100">
                <a:solidFill>
                  <a:srgbClr val="374151"/>
                </a:solidFill>
              </a:defRPr>
            </a:lvl1pPr>
          </a:lstStyle>
          <a:p>
            <a:pPr/>
            <a:r>
              <a:t>Smart meters record injection &amp; withdrawal. Blockchain logs the trade. DISCOM earns ₹4 wheeling charge. Enerex earns ₹1.10 fee.</a:t>
            </a:r>
          </a:p>
        </p:txBody>
      </p:sp>
      <p:sp>
        <p:nvSpPr>
          <p:cNvPr id="288" name="Shape 23"/>
          <p:cNvSpPr/>
          <p:nvPr/>
        </p:nvSpPr>
        <p:spPr>
          <a:xfrm>
            <a:off x="320040" y="4206240"/>
            <a:ext cx="8503920" cy="621793"/>
          </a:xfrm>
          <a:prstGeom prst="rect">
            <a:avLst/>
          </a:prstGeom>
          <a:solidFill>
            <a:srgbClr val="D6EFE0"/>
          </a:solidFill>
          <a:ln w="12700">
            <a:solidFill>
              <a:srgbClr val="2E7D4F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89" name="Text 24"/>
          <p:cNvSpPr txBox="1"/>
          <p:nvPr/>
        </p:nvSpPr>
        <p:spPr>
          <a:xfrm>
            <a:off x="502919" y="4404282"/>
            <a:ext cx="8138161" cy="2257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100">
                <a:solidFill>
                  <a:srgbClr val="2E7D4F"/>
                </a:solidFill>
              </a:defRPr>
            </a:lvl1pPr>
          </a:lstStyle>
          <a:p>
            <a:pPr/>
            <a:r>
              <a:t>Outcome: Ramesh earns ₹44 (vs ₹16 from DISCOM).  Kavita saves ₹28 on her bill.  DISCOM earns grid fee.  0 watts wasted.  Everyone wins.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Text 0"/>
          <p:cNvSpPr txBox="1"/>
          <p:nvPr/>
        </p:nvSpPr>
        <p:spPr>
          <a:xfrm>
            <a:off x="457200" y="265536"/>
            <a:ext cx="8229600" cy="3010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400">
                <a:solidFill>
                  <a:srgbClr val="1A3A5C"/>
                </a:solidFill>
              </a:defRPr>
            </a:lvl1pPr>
          </a:lstStyle>
          <a:p>
            <a:pPr/>
            <a:r>
              <a:t>09  |  Future Work — 2 Semester Roadmap</a:t>
            </a:r>
          </a:p>
        </p:txBody>
      </p:sp>
      <p:sp>
        <p:nvSpPr>
          <p:cNvPr id="292" name="Shape 1"/>
          <p:cNvSpPr/>
          <p:nvPr/>
        </p:nvSpPr>
        <p:spPr>
          <a:xfrm>
            <a:off x="457200" y="713231"/>
            <a:ext cx="8229600" cy="1"/>
          </a:xfrm>
          <a:prstGeom prst="line">
            <a:avLst/>
          </a:prstGeom>
          <a:ln w="25400">
            <a:solidFill>
              <a:srgbClr val="2E7D4F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93" name="Shape 2"/>
          <p:cNvSpPr/>
          <p:nvPr/>
        </p:nvSpPr>
        <p:spPr>
          <a:xfrm>
            <a:off x="320040" y="841247"/>
            <a:ext cx="4114801" cy="310897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94" name="Text 3"/>
          <p:cNvSpPr txBox="1"/>
          <p:nvPr/>
        </p:nvSpPr>
        <p:spPr>
          <a:xfrm>
            <a:off x="393191" y="928160"/>
            <a:ext cx="3977642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000">
                <a:solidFill>
                  <a:srgbClr val="FFFFFF"/>
                </a:solidFill>
              </a:defRPr>
            </a:lvl1pPr>
          </a:lstStyle>
          <a:p>
            <a:pPr/>
            <a:r>
              <a:t>Semester 1  —  Research, Design &amp; Simulation</a:t>
            </a:r>
          </a:p>
        </p:txBody>
      </p:sp>
      <p:sp>
        <p:nvSpPr>
          <p:cNvPr id="295" name="Shape 4"/>
          <p:cNvSpPr/>
          <p:nvPr/>
        </p:nvSpPr>
        <p:spPr>
          <a:xfrm>
            <a:off x="4663440" y="841247"/>
            <a:ext cx="4114801" cy="310897"/>
          </a:xfrm>
          <a:prstGeom prst="rect">
            <a:avLst/>
          </a:prstGeom>
          <a:solidFill>
            <a:srgbClr val="2E7D4F"/>
          </a:solidFill>
          <a:ln w="12700">
            <a:solidFill>
              <a:srgbClr val="2E7D4F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96" name="Text 5"/>
          <p:cNvSpPr txBox="1"/>
          <p:nvPr/>
        </p:nvSpPr>
        <p:spPr>
          <a:xfrm>
            <a:off x="4736591" y="928160"/>
            <a:ext cx="3977642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000">
                <a:solidFill>
                  <a:srgbClr val="FFFFFF"/>
                </a:solidFill>
              </a:defRPr>
            </a:lvl1pPr>
          </a:lstStyle>
          <a:p>
            <a:pPr/>
            <a:r>
              <a:t>Semester 2  —  Development, Testing &amp; Demo</a:t>
            </a:r>
          </a:p>
        </p:txBody>
      </p:sp>
      <p:sp>
        <p:nvSpPr>
          <p:cNvPr id="297" name="Shape 6"/>
          <p:cNvSpPr/>
          <p:nvPr/>
        </p:nvSpPr>
        <p:spPr>
          <a:xfrm>
            <a:off x="320040" y="1234439"/>
            <a:ext cx="4114801" cy="868681"/>
          </a:xfrm>
          <a:prstGeom prst="rect">
            <a:avLst/>
          </a:prstGeom>
          <a:solidFill>
            <a:srgbClr val="F7F8FA"/>
          </a:solidFill>
          <a:ln w="6350">
            <a:solidFill>
              <a:srgbClr val="E5E7E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98" name="Shape 7"/>
          <p:cNvSpPr/>
          <p:nvPr/>
        </p:nvSpPr>
        <p:spPr>
          <a:xfrm>
            <a:off x="320040" y="1234439"/>
            <a:ext cx="73153" cy="868681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99" name="Text 8"/>
          <p:cNvSpPr txBox="1"/>
          <p:nvPr/>
        </p:nvSpPr>
        <p:spPr>
          <a:xfrm>
            <a:off x="530351" y="1300647"/>
            <a:ext cx="914401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900">
                <a:solidFill>
                  <a:srgbClr val="1A3A5C"/>
                </a:solidFill>
              </a:defRPr>
            </a:lvl1pPr>
          </a:lstStyle>
          <a:p>
            <a:pPr/>
            <a:r>
              <a:t>Month 1–2</a:t>
            </a:r>
          </a:p>
        </p:txBody>
      </p:sp>
      <p:sp>
        <p:nvSpPr>
          <p:cNvPr id="300" name="Text 9"/>
          <p:cNvSpPr txBox="1"/>
          <p:nvPr/>
        </p:nvSpPr>
        <p:spPr>
          <a:xfrm>
            <a:off x="530352" y="1523922"/>
            <a:ext cx="3749040" cy="2257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100">
                <a:solidFill>
                  <a:srgbClr val="1A3A5C"/>
                </a:solidFill>
              </a:defRPr>
            </a:lvl1pPr>
          </a:lstStyle>
          <a:p>
            <a:pPr/>
            <a:r>
              <a:t>Research &amp; Requirements</a:t>
            </a:r>
          </a:p>
        </p:txBody>
      </p:sp>
      <p:sp>
        <p:nvSpPr>
          <p:cNvPr id="301" name="Text 10"/>
          <p:cNvSpPr txBox="1"/>
          <p:nvPr/>
        </p:nvSpPr>
        <p:spPr>
          <a:xfrm>
            <a:off x="530351" y="1738289"/>
            <a:ext cx="3794761" cy="3456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/>
            <a:r>
              <a:t>Study CERC P2P regulations. Interview 15 solar owners in MP. Map DISCOM API availability.</a:t>
            </a:r>
          </a:p>
        </p:txBody>
      </p:sp>
      <p:sp>
        <p:nvSpPr>
          <p:cNvPr id="302" name="Shape 11"/>
          <p:cNvSpPr/>
          <p:nvPr/>
        </p:nvSpPr>
        <p:spPr>
          <a:xfrm>
            <a:off x="320040" y="2194560"/>
            <a:ext cx="4114801" cy="868681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03" name="Shape 12"/>
          <p:cNvSpPr/>
          <p:nvPr/>
        </p:nvSpPr>
        <p:spPr>
          <a:xfrm>
            <a:off x="320040" y="2194560"/>
            <a:ext cx="73153" cy="868681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04" name="Text 13"/>
          <p:cNvSpPr txBox="1"/>
          <p:nvPr/>
        </p:nvSpPr>
        <p:spPr>
          <a:xfrm>
            <a:off x="530351" y="2260767"/>
            <a:ext cx="914401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900">
                <a:solidFill>
                  <a:srgbClr val="1A3A5C"/>
                </a:solidFill>
              </a:defRPr>
            </a:lvl1pPr>
          </a:lstStyle>
          <a:p>
            <a:pPr/>
            <a:r>
              <a:t>Month 3–4</a:t>
            </a:r>
          </a:p>
        </p:txBody>
      </p:sp>
      <p:sp>
        <p:nvSpPr>
          <p:cNvPr id="305" name="Text 14"/>
          <p:cNvSpPr txBox="1"/>
          <p:nvPr/>
        </p:nvSpPr>
        <p:spPr>
          <a:xfrm>
            <a:off x="530352" y="2484042"/>
            <a:ext cx="3749040" cy="2257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100">
                <a:solidFill>
                  <a:srgbClr val="1A3A5C"/>
                </a:solidFill>
              </a:defRPr>
            </a:lvl1pPr>
          </a:lstStyle>
          <a:p>
            <a:pPr/>
            <a:r>
              <a:t>System Design &amp; Simulation</a:t>
            </a:r>
          </a:p>
        </p:txBody>
      </p:sp>
      <p:sp>
        <p:nvSpPr>
          <p:cNvPr id="306" name="Text 15"/>
          <p:cNvSpPr txBox="1"/>
          <p:nvPr/>
        </p:nvSpPr>
        <p:spPr>
          <a:xfrm>
            <a:off x="530351" y="2698409"/>
            <a:ext cx="3794761" cy="3456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/>
            <a:r>
              <a:t>Architecture design. Energy trading simulation using MNRE datasets. Figma UI/UX prototypes.</a:t>
            </a:r>
          </a:p>
        </p:txBody>
      </p:sp>
      <p:sp>
        <p:nvSpPr>
          <p:cNvPr id="307" name="Shape 16"/>
          <p:cNvSpPr/>
          <p:nvPr/>
        </p:nvSpPr>
        <p:spPr>
          <a:xfrm>
            <a:off x="320040" y="3154679"/>
            <a:ext cx="4114801" cy="868681"/>
          </a:xfrm>
          <a:prstGeom prst="rect">
            <a:avLst/>
          </a:prstGeom>
          <a:solidFill>
            <a:srgbClr val="F7F8FA"/>
          </a:solidFill>
          <a:ln w="6350">
            <a:solidFill>
              <a:srgbClr val="E5E7E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08" name="Shape 17"/>
          <p:cNvSpPr/>
          <p:nvPr/>
        </p:nvSpPr>
        <p:spPr>
          <a:xfrm>
            <a:off x="320040" y="3154679"/>
            <a:ext cx="73153" cy="868681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09" name="Text 18"/>
          <p:cNvSpPr txBox="1"/>
          <p:nvPr/>
        </p:nvSpPr>
        <p:spPr>
          <a:xfrm>
            <a:off x="530351" y="3220887"/>
            <a:ext cx="914401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900">
                <a:solidFill>
                  <a:srgbClr val="1A3A5C"/>
                </a:solidFill>
              </a:defRPr>
            </a:lvl1pPr>
          </a:lstStyle>
          <a:p>
            <a:pPr/>
            <a:r>
              <a:t>Month 5–6</a:t>
            </a:r>
          </a:p>
        </p:txBody>
      </p:sp>
      <p:sp>
        <p:nvSpPr>
          <p:cNvPr id="310" name="Text 19"/>
          <p:cNvSpPr txBox="1"/>
          <p:nvPr/>
        </p:nvSpPr>
        <p:spPr>
          <a:xfrm>
            <a:off x="530352" y="3444161"/>
            <a:ext cx="3749040" cy="2257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100">
                <a:solidFill>
                  <a:srgbClr val="1A3A5C"/>
                </a:solidFill>
              </a:defRPr>
            </a:lvl1pPr>
          </a:lstStyle>
          <a:p>
            <a:pPr/>
            <a:r>
              <a:t>Prototype &amp; Policy Mapping</a:t>
            </a:r>
          </a:p>
        </p:txBody>
      </p:sp>
      <p:sp>
        <p:nvSpPr>
          <p:cNvPr id="311" name="Text 20"/>
          <p:cNvSpPr txBox="1"/>
          <p:nvPr/>
        </p:nvSpPr>
        <p:spPr>
          <a:xfrm>
            <a:off x="530351" y="3658529"/>
            <a:ext cx="3794761" cy="3456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/>
            <a:r>
              <a:t>Working frontend prototype. Policy brief mapping platform to CERC/SERC rules. Faculty review.</a:t>
            </a:r>
          </a:p>
        </p:txBody>
      </p:sp>
      <p:sp>
        <p:nvSpPr>
          <p:cNvPr id="312" name="Shape 21"/>
          <p:cNvSpPr/>
          <p:nvPr/>
        </p:nvSpPr>
        <p:spPr>
          <a:xfrm>
            <a:off x="4663440" y="1234439"/>
            <a:ext cx="4114801" cy="868681"/>
          </a:xfrm>
          <a:prstGeom prst="rect">
            <a:avLst/>
          </a:prstGeom>
          <a:solidFill>
            <a:srgbClr val="F7F8FA"/>
          </a:solidFill>
          <a:ln w="6350">
            <a:solidFill>
              <a:srgbClr val="E5E7E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13" name="Shape 22"/>
          <p:cNvSpPr/>
          <p:nvPr/>
        </p:nvSpPr>
        <p:spPr>
          <a:xfrm>
            <a:off x="4663440" y="1234439"/>
            <a:ext cx="73153" cy="868681"/>
          </a:xfrm>
          <a:prstGeom prst="rect">
            <a:avLst/>
          </a:prstGeom>
          <a:solidFill>
            <a:srgbClr val="2E7D4F"/>
          </a:solidFill>
          <a:ln w="12700">
            <a:solidFill>
              <a:srgbClr val="2E7D4F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14" name="Text 23"/>
          <p:cNvSpPr txBox="1"/>
          <p:nvPr/>
        </p:nvSpPr>
        <p:spPr>
          <a:xfrm>
            <a:off x="4873752" y="1300647"/>
            <a:ext cx="914400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900">
                <a:solidFill>
                  <a:srgbClr val="2E7D4F"/>
                </a:solidFill>
              </a:defRPr>
            </a:lvl1pPr>
          </a:lstStyle>
          <a:p>
            <a:pPr/>
            <a:r>
              <a:t>Month 7–8</a:t>
            </a:r>
          </a:p>
        </p:txBody>
      </p:sp>
      <p:sp>
        <p:nvSpPr>
          <p:cNvPr id="315" name="Text 24"/>
          <p:cNvSpPr txBox="1"/>
          <p:nvPr/>
        </p:nvSpPr>
        <p:spPr>
          <a:xfrm>
            <a:off x="4873752" y="1523922"/>
            <a:ext cx="3749040" cy="2257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100">
                <a:solidFill>
                  <a:srgbClr val="1A3A5C"/>
                </a:solidFill>
              </a:defRPr>
            </a:lvl1pPr>
          </a:lstStyle>
          <a:p>
            <a:pPr/>
            <a:r>
              <a:t>Core Platform Development</a:t>
            </a:r>
          </a:p>
        </p:txBody>
      </p:sp>
      <p:sp>
        <p:nvSpPr>
          <p:cNvPr id="316" name="Text 25"/>
          <p:cNvSpPr txBox="1"/>
          <p:nvPr/>
        </p:nvSpPr>
        <p:spPr>
          <a:xfrm>
            <a:off x="4873752" y="1738289"/>
            <a:ext cx="3794760" cy="3456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/>
            <a:r>
              <a:t>Marketplace module, UPI wallet integration, producer/consumer onboarding, smart meter simulator.</a:t>
            </a:r>
          </a:p>
        </p:txBody>
      </p:sp>
      <p:sp>
        <p:nvSpPr>
          <p:cNvPr id="317" name="Shape 26"/>
          <p:cNvSpPr/>
          <p:nvPr/>
        </p:nvSpPr>
        <p:spPr>
          <a:xfrm>
            <a:off x="4663440" y="2194560"/>
            <a:ext cx="4114801" cy="868681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18" name="Shape 27"/>
          <p:cNvSpPr/>
          <p:nvPr/>
        </p:nvSpPr>
        <p:spPr>
          <a:xfrm>
            <a:off x="4663440" y="2194560"/>
            <a:ext cx="73153" cy="868681"/>
          </a:xfrm>
          <a:prstGeom prst="rect">
            <a:avLst/>
          </a:prstGeom>
          <a:solidFill>
            <a:srgbClr val="2E7D4F"/>
          </a:solidFill>
          <a:ln w="12700">
            <a:solidFill>
              <a:srgbClr val="2E7D4F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19" name="Text 28"/>
          <p:cNvSpPr txBox="1"/>
          <p:nvPr/>
        </p:nvSpPr>
        <p:spPr>
          <a:xfrm>
            <a:off x="4873752" y="2260767"/>
            <a:ext cx="914400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900">
                <a:solidFill>
                  <a:srgbClr val="2E7D4F"/>
                </a:solidFill>
              </a:defRPr>
            </a:lvl1pPr>
          </a:lstStyle>
          <a:p>
            <a:pPr/>
            <a:r>
              <a:t>Month 9–10</a:t>
            </a:r>
          </a:p>
        </p:txBody>
      </p:sp>
      <p:sp>
        <p:nvSpPr>
          <p:cNvPr id="320" name="Text 29"/>
          <p:cNvSpPr txBox="1"/>
          <p:nvPr/>
        </p:nvSpPr>
        <p:spPr>
          <a:xfrm>
            <a:off x="4873752" y="2484042"/>
            <a:ext cx="3749040" cy="2257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100">
                <a:solidFill>
                  <a:srgbClr val="1A3A5C"/>
                </a:solidFill>
              </a:defRPr>
            </a:lvl1pPr>
          </a:lstStyle>
          <a:p>
            <a:pPr/>
            <a:r>
              <a:t>Blockchain &amp; Testing</a:t>
            </a:r>
          </a:p>
        </p:txBody>
      </p:sp>
      <p:sp>
        <p:nvSpPr>
          <p:cNvPr id="321" name="Text 30"/>
          <p:cNvSpPr txBox="1"/>
          <p:nvPr/>
        </p:nvSpPr>
        <p:spPr>
          <a:xfrm>
            <a:off x="4873752" y="2698409"/>
            <a:ext cx="3794760" cy="3456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/>
            <a:r>
              <a:t>Transaction ledger integration. Unit, load &amp; security testing. User testing with 10 solar owners.</a:t>
            </a:r>
          </a:p>
        </p:txBody>
      </p:sp>
      <p:sp>
        <p:nvSpPr>
          <p:cNvPr id="322" name="Shape 31"/>
          <p:cNvSpPr/>
          <p:nvPr/>
        </p:nvSpPr>
        <p:spPr>
          <a:xfrm>
            <a:off x="4663440" y="3154679"/>
            <a:ext cx="4114801" cy="868681"/>
          </a:xfrm>
          <a:prstGeom prst="rect">
            <a:avLst/>
          </a:prstGeom>
          <a:solidFill>
            <a:srgbClr val="F7F8FA"/>
          </a:solidFill>
          <a:ln w="6350">
            <a:solidFill>
              <a:srgbClr val="E5E7E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23" name="Shape 32"/>
          <p:cNvSpPr/>
          <p:nvPr/>
        </p:nvSpPr>
        <p:spPr>
          <a:xfrm>
            <a:off x="4663440" y="3154679"/>
            <a:ext cx="73153" cy="868681"/>
          </a:xfrm>
          <a:prstGeom prst="rect">
            <a:avLst/>
          </a:prstGeom>
          <a:solidFill>
            <a:srgbClr val="2E7D4F"/>
          </a:solidFill>
          <a:ln w="12700">
            <a:solidFill>
              <a:srgbClr val="2E7D4F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24" name="Text 33"/>
          <p:cNvSpPr txBox="1"/>
          <p:nvPr/>
        </p:nvSpPr>
        <p:spPr>
          <a:xfrm>
            <a:off x="4873752" y="3220887"/>
            <a:ext cx="914400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900">
                <a:solidFill>
                  <a:srgbClr val="2E7D4F"/>
                </a:solidFill>
              </a:defRPr>
            </a:lvl1pPr>
          </a:lstStyle>
          <a:p>
            <a:pPr/>
            <a:r>
              <a:t>Month 11–12</a:t>
            </a:r>
          </a:p>
        </p:txBody>
      </p:sp>
      <p:sp>
        <p:nvSpPr>
          <p:cNvPr id="325" name="Text 34"/>
          <p:cNvSpPr txBox="1"/>
          <p:nvPr/>
        </p:nvSpPr>
        <p:spPr>
          <a:xfrm>
            <a:off x="4873752" y="3444161"/>
            <a:ext cx="3749040" cy="2257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100">
                <a:solidFill>
                  <a:srgbClr val="1A3A5C"/>
                </a:solidFill>
              </a:defRPr>
            </a:lvl1pPr>
          </a:lstStyle>
          <a:p>
            <a:pPr/>
            <a:r>
              <a:t>Pilot Demo &amp; Submission</a:t>
            </a:r>
          </a:p>
        </p:txBody>
      </p:sp>
      <p:sp>
        <p:nvSpPr>
          <p:cNvPr id="326" name="Text 35"/>
          <p:cNvSpPr txBox="1"/>
          <p:nvPr/>
        </p:nvSpPr>
        <p:spPr>
          <a:xfrm>
            <a:off x="4873752" y="3658529"/>
            <a:ext cx="3794760" cy="3456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/>
            <a:r>
              <a:t>Live demo: 20-node simulated trading network. Final report, impact analysis, national tech fest.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Text 0"/>
          <p:cNvSpPr txBox="1"/>
          <p:nvPr/>
        </p:nvSpPr>
        <p:spPr>
          <a:xfrm>
            <a:off x="457200" y="265536"/>
            <a:ext cx="8229600" cy="3010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400">
                <a:solidFill>
                  <a:srgbClr val="1A3A5C"/>
                </a:solidFill>
              </a:defRPr>
            </a:lvl1pPr>
          </a:lstStyle>
          <a:p>
            <a:pPr/>
            <a:r>
              <a:t>Why Enerex?</a:t>
            </a:r>
          </a:p>
        </p:txBody>
      </p:sp>
      <p:sp>
        <p:nvSpPr>
          <p:cNvPr id="329" name="Shape 1"/>
          <p:cNvSpPr/>
          <p:nvPr/>
        </p:nvSpPr>
        <p:spPr>
          <a:xfrm>
            <a:off x="457200" y="713231"/>
            <a:ext cx="8229600" cy="1"/>
          </a:xfrm>
          <a:prstGeom prst="line">
            <a:avLst/>
          </a:prstGeom>
          <a:ln w="25400">
            <a:solidFill>
              <a:srgbClr val="2E7D4F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30" name="Shape 2"/>
          <p:cNvSpPr/>
          <p:nvPr/>
        </p:nvSpPr>
        <p:spPr>
          <a:xfrm>
            <a:off x="320039" y="841247"/>
            <a:ext cx="1965962" cy="1005840"/>
          </a:xfrm>
          <a:prstGeom prst="rect">
            <a:avLst/>
          </a:prstGeom>
          <a:solidFill>
            <a:srgbClr val="EAF1FB"/>
          </a:solidFill>
          <a:ln w="12700">
            <a:solidFill>
              <a:srgbClr val="1A3A5C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31" name="Text 3"/>
          <p:cNvSpPr txBox="1"/>
          <p:nvPr/>
        </p:nvSpPr>
        <p:spPr>
          <a:xfrm>
            <a:off x="365759" y="941167"/>
            <a:ext cx="1874522" cy="3853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2200">
                <a:solidFill>
                  <a:srgbClr val="1A3A5C"/>
                </a:solidFill>
              </a:defRPr>
            </a:lvl1pPr>
          </a:lstStyle>
          <a:p>
            <a:pPr/>
            <a:r>
              <a:t>11M+</a:t>
            </a:r>
          </a:p>
        </p:txBody>
      </p:sp>
      <p:sp>
        <p:nvSpPr>
          <p:cNvPr id="332" name="Text 4"/>
          <p:cNvSpPr txBox="1"/>
          <p:nvPr/>
        </p:nvSpPr>
        <p:spPr>
          <a:xfrm>
            <a:off x="457200" y="1404533"/>
            <a:ext cx="1691640" cy="3456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900">
                <a:solidFill>
                  <a:srgbClr val="6B7280"/>
                </a:solidFill>
              </a:defRPr>
            </a:lvl1pPr>
          </a:lstStyle>
          <a:p>
            <a:pPr/>
            <a:r>
              <a:t>Rooftop solar owners in India today</a:t>
            </a:r>
          </a:p>
        </p:txBody>
      </p:sp>
      <p:sp>
        <p:nvSpPr>
          <p:cNvPr id="333" name="Shape 5"/>
          <p:cNvSpPr/>
          <p:nvPr/>
        </p:nvSpPr>
        <p:spPr>
          <a:xfrm>
            <a:off x="3417043" y="839899"/>
            <a:ext cx="1965961" cy="1005840"/>
          </a:xfrm>
          <a:prstGeom prst="rect">
            <a:avLst/>
          </a:prstGeom>
          <a:solidFill>
            <a:srgbClr val="EAF1FB"/>
          </a:solidFill>
          <a:ln w="12700">
            <a:solidFill>
              <a:srgbClr val="1A3A5C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34" name="Text 6"/>
          <p:cNvSpPr txBox="1"/>
          <p:nvPr/>
        </p:nvSpPr>
        <p:spPr>
          <a:xfrm>
            <a:off x="3244682" y="907103"/>
            <a:ext cx="1874521" cy="3853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2200">
                <a:solidFill>
                  <a:srgbClr val="1A3A5C"/>
                </a:solidFill>
              </a:defRPr>
            </a:lvl1pPr>
          </a:lstStyle>
          <a:p>
            <a:pPr/>
            <a:r>
              <a:t>40M</a:t>
            </a:r>
          </a:p>
        </p:txBody>
      </p:sp>
      <p:sp>
        <p:nvSpPr>
          <p:cNvPr id="335" name="Text 7"/>
          <p:cNvSpPr txBox="1"/>
          <p:nvPr/>
        </p:nvSpPr>
        <p:spPr>
          <a:xfrm>
            <a:off x="3482448" y="1387383"/>
            <a:ext cx="1691640" cy="3456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900">
                <a:solidFill>
                  <a:srgbClr val="6B7280"/>
                </a:solidFill>
              </a:defRPr>
            </a:lvl1pPr>
          </a:lstStyle>
          <a:p>
            <a:pPr/>
            <a:r>
              <a:t>Targeted by govt by 2026 (PM Surya Ghar)</a:t>
            </a:r>
          </a:p>
        </p:txBody>
      </p:sp>
      <p:sp>
        <p:nvSpPr>
          <p:cNvPr id="336" name="Shape 8"/>
          <p:cNvSpPr/>
          <p:nvPr/>
        </p:nvSpPr>
        <p:spPr>
          <a:xfrm>
            <a:off x="6370535" y="784616"/>
            <a:ext cx="1965961" cy="1005840"/>
          </a:xfrm>
          <a:prstGeom prst="rect">
            <a:avLst/>
          </a:prstGeom>
          <a:solidFill>
            <a:srgbClr val="EAF1FB"/>
          </a:solidFill>
          <a:ln w="12700">
            <a:solidFill>
              <a:srgbClr val="1A3A5C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37" name="Text 9"/>
          <p:cNvSpPr txBox="1"/>
          <p:nvPr/>
        </p:nvSpPr>
        <p:spPr>
          <a:xfrm>
            <a:off x="6286737" y="946827"/>
            <a:ext cx="1874521" cy="3853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2200">
                <a:solidFill>
                  <a:srgbClr val="1A3A5C"/>
                </a:solidFill>
              </a:defRPr>
            </a:lvl1pPr>
          </a:lstStyle>
          <a:p>
            <a:pPr/>
            <a:r>
              <a:t>₹2,000 Cr</a:t>
            </a:r>
          </a:p>
        </p:txBody>
      </p:sp>
      <p:sp>
        <p:nvSpPr>
          <p:cNvPr id="338" name="Text 10"/>
          <p:cNvSpPr txBox="1"/>
          <p:nvPr/>
        </p:nvSpPr>
        <p:spPr>
          <a:xfrm>
            <a:off x="6507696" y="1411885"/>
            <a:ext cx="1691640" cy="2059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900">
                <a:solidFill>
                  <a:srgbClr val="6B7280"/>
                </a:solidFill>
              </a:defRPr>
            </a:lvl1pPr>
          </a:lstStyle>
          <a:p>
            <a:pPr/>
            <a:r>
              <a:t>Annual fee market at 5% adoption</a:t>
            </a:r>
          </a:p>
        </p:txBody>
      </p:sp>
      <p:sp>
        <p:nvSpPr>
          <p:cNvPr id="339" name="Text 13"/>
          <p:cNvSpPr txBox="1"/>
          <p:nvPr/>
        </p:nvSpPr>
        <p:spPr>
          <a:xfrm>
            <a:off x="6903719" y="1474383"/>
            <a:ext cx="1691640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900">
                <a:solidFill>
                  <a:srgbClr val="6B7280"/>
                </a:solidFill>
              </a:defRPr>
            </a:lvl1pPr>
          </a:lstStyle>
          <a:p>
            <a:pPr/>
            <a:r>
              <a:t>\</a:t>
            </a:r>
          </a:p>
        </p:txBody>
      </p:sp>
      <p:sp>
        <p:nvSpPr>
          <p:cNvPr id="340" name="Shape 14"/>
          <p:cNvSpPr/>
          <p:nvPr/>
        </p:nvSpPr>
        <p:spPr>
          <a:xfrm>
            <a:off x="320040" y="2011679"/>
            <a:ext cx="4114801" cy="1005840"/>
          </a:xfrm>
          <a:prstGeom prst="rect">
            <a:avLst/>
          </a:prstGeom>
          <a:solidFill>
            <a:srgbClr val="F7F8FA"/>
          </a:solidFill>
          <a:ln w="6350">
            <a:solidFill>
              <a:srgbClr val="E5E7E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41" name="Shape 15"/>
          <p:cNvSpPr/>
          <p:nvPr/>
        </p:nvSpPr>
        <p:spPr>
          <a:xfrm>
            <a:off x="320040" y="2011679"/>
            <a:ext cx="73153" cy="1005840"/>
          </a:xfrm>
          <a:prstGeom prst="rect">
            <a:avLst/>
          </a:prstGeom>
          <a:solidFill>
            <a:srgbClr val="2E7D4F"/>
          </a:solidFill>
          <a:ln w="12700">
            <a:solidFill>
              <a:srgbClr val="2E7D4F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42" name="Text 16"/>
          <p:cNvSpPr txBox="1"/>
          <p:nvPr/>
        </p:nvSpPr>
        <p:spPr>
          <a:xfrm>
            <a:off x="548640" y="2097839"/>
            <a:ext cx="3749040" cy="248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200">
                <a:solidFill>
                  <a:srgbClr val="1A3A5C"/>
                </a:solidFill>
              </a:defRPr>
            </a:lvl1pPr>
          </a:lstStyle>
          <a:p>
            <a:pPr/>
            <a:r>
              <a:t>Asset-Light Model</a:t>
            </a:r>
          </a:p>
        </p:txBody>
      </p:sp>
      <p:sp>
        <p:nvSpPr>
          <p:cNvPr id="343" name="Text 17"/>
          <p:cNvSpPr txBox="1"/>
          <p:nvPr/>
        </p:nvSpPr>
        <p:spPr>
          <a:xfrm>
            <a:off x="548640" y="2482386"/>
            <a:ext cx="3749040" cy="3936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000">
                <a:solidFill>
                  <a:srgbClr val="374151"/>
                </a:solidFill>
              </a:defRPr>
            </a:lvl1pPr>
          </a:lstStyle>
          <a:p>
            <a:pPr/>
            <a:r>
              <a:t>We own no panels, no wires, no meters. Pure software marketplace. 60–70% gross margins typical for such platforms.</a:t>
            </a:r>
          </a:p>
        </p:txBody>
      </p:sp>
      <p:sp>
        <p:nvSpPr>
          <p:cNvPr id="344" name="Shape 18"/>
          <p:cNvSpPr/>
          <p:nvPr/>
        </p:nvSpPr>
        <p:spPr>
          <a:xfrm>
            <a:off x="4709160" y="2559137"/>
            <a:ext cx="4114801" cy="1005840"/>
          </a:xfrm>
          <a:prstGeom prst="rect">
            <a:avLst/>
          </a:prstGeom>
          <a:solidFill>
            <a:srgbClr val="F7F8FA"/>
          </a:solidFill>
          <a:ln w="6350">
            <a:solidFill>
              <a:srgbClr val="E5E7E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45" name="Shape 19"/>
          <p:cNvSpPr/>
          <p:nvPr/>
        </p:nvSpPr>
        <p:spPr>
          <a:xfrm>
            <a:off x="4628451" y="2556576"/>
            <a:ext cx="73153" cy="1005840"/>
          </a:xfrm>
          <a:prstGeom prst="rect">
            <a:avLst/>
          </a:prstGeom>
          <a:solidFill>
            <a:srgbClr val="2E7D4F"/>
          </a:solidFill>
          <a:ln w="12700">
            <a:solidFill>
              <a:srgbClr val="2E7D4F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46" name="Text 20"/>
          <p:cNvSpPr txBox="1"/>
          <p:nvPr/>
        </p:nvSpPr>
        <p:spPr>
          <a:xfrm>
            <a:off x="5574170" y="2732116"/>
            <a:ext cx="3749041" cy="248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200">
                <a:solidFill>
                  <a:srgbClr val="1A3A5C"/>
                </a:solidFill>
              </a:defRPr>
            </a:lvl1pPr>
          </a:lstStyle>
          <a:p>
            <a:pPr/>
            <a:r>
              <a:t>Government Tailwind</a:t>
            </a:r>
          </a:p>
        </p:txBody>
      </p:sp>
      <p:sp>
        <p:nvSpPr>
          <p:cNvPr id="347" name="Text 21"/>
          <p:cNvSpPr txBox="1"/>
          <p:nvPr/>
        </p:nvSpPr>
        <p:spPr>
          <a:xfrm>
            <a:off x="4892040" y="3095533"/>
            <a:ext cx="3749040" cy="3936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000">
                <a:solidFill>
                  <a:srgbClr val="374151"/>
                </a:solidFill>
              </a:defRPr>
            </a:lvl1pPr>
          </a:lstStyle>
          <a:p>
            <a:pPr/>
            <a:r>
              <a:t>PM Surya Ghar creating supply-side for free. CERC regulations opening legal runway. India Energy Week 2024 prioritising P2P.</a:t>
            </a:r>
          </a:p>
        </p:txBody>
      </p:sp>
      <p:sp>
        <p:nvSpPr>
          <p:cNvPr id="348" name="Shape 22"/>
          <p:cNvSpPr/>
          <p:nvPr/>
        </p:nvSpPr>
        <p:spPr>
          <a:xfrm>
            <a:off x="320040" y="3154679"/>
            <a:ext cx="4114801" cy="1005840"/>
          </a:xfrm>
          <a:prstGeom prst="rect">
            <a:avLst/>
          </a:prstGeom>
          <a:solidFill>
            <a:srgbClr val="F7F8FA"/>
          </a:solidFill>
          <a:ln w="6350">
            <a:solidFill>
              <a:srgbClr val="E5E7E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49" name="Shape 23"/>
          <p:cNvSpPr/>
          <p:nvPr/>
        </p:nvSpPr>
        <p:spPr>
          <a:xfrm>
            <a:off x="320040" y="3154679"/>
            <a:ext cx="73153" cy="1005840"/>
          </a:xfrm>
          <a:prstGeom prst="rect">
            <a:avLst/>
          </a:prstGeom>
          <a:solidFill>
            <a:srgbClr val="2E7D4F"/>
          </a:solidFill>
          <a:ln w="12700">
            <a:solidFill>
              <a:srgbClr val="2E7D4F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50" name="Text 24"/>
          <p:cNvSpPr txBox="1"/>
          <p:nvPr/>
        </p:nvSpPr>
        <p:spPr>
          <a:xfrm>
            <a:off x="548640" y="3240839"/>
            <a:ext cx="3749040" cy="248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200">
                <a:solidFill>
                  <a:srgbClr val="1A3A5C"/>
                </a:solidFill>
              </a:defRPr>
            </a:lvl1pPr>
          </a:lstStyle>
          <a:p>
            <a:pPr/>
            <a:r>
              <a:t>Validated Global Model</a:t>
            </a:r>
          </a:p>
        </p:txBody>
      </p:sp>
      <p:sp>
        <p:nvSpPr>
          <p:cNvPr id="351" name="Text 25"/>
          <p:cNvSpPr txBox="1"/>
          <p:nvPr/>
        </p:nvSpPr>
        <p:spPr>
          <a:xfrm>
            <a:off x="548640" y="3625386"/>
            <a:ext cx="3749040" cy="3936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000">
                <a:solidFill>
                  <a:srgbClr val="374151"/>
                </a:solidFill>
              </a:defRPr>
            </a:lvl1pPr>
          </a:lstStyle>
          <a:p>
            <a:pPr/>
            <a:r>
              <a:t>Power Ledger ($34M), WePower ($40M) proved this globally. India = 4x the market size with faster mobile adoption.</a:t>
            </a:r>
          </a:p>
        </p:txBody>
      </p:sp>
      <p:sp>
        <p:nvSpPr>
          <p:cNvPr id="352" name="Text 30"/>
          <p:cNvSpPr txBox="1"/>
          <p:nvPr/>
        </p:nvSpPr>
        <p:spPr>
          <a:xfrm>
            <a:off x="365760" y="4385993"/>
            <a:ext cx="8412480" cy="2257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i="1" sz="1100">
                <a:solidFill>
                  <a:srgbClr val="2E7D4F"/>
                </a:solidFill>
              </a:defRPr>
            </a:lvl1pPr>
          </a:lstStyle>
          <a:p>
            <a:pPr/>
            <a:r>
              <a:t>The energy is already being generated. The buyers are already next door. We are just building the connection.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A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Text 0"/>
          <p:cNvSpPr txBox="1"/>
          <p:nvPr/>
        </p:nvSpPr>
        <p:spPr>
          <a:xfrm>
            <a:off x="685799" y="933628"/>
            <a:ext cx="7772401" cy="6016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4000">
                <a:solidFill>
                  <a:srgbClr val="FFFFFF"/>
                </a:solidFill>
              </a:defRPr>
            </a:lvl1pPr>
          </a:lstStyle>
          <a:p>
            <a:pPr/>
            <a:r>
              <a:t>Thank You</a:t>
            </a:r>
          </a:p>
        </p:txBody>
      </p:sp>
      <p:sp>
        <p:nvSpPr>
          <p:cNvPr id="355" name="Shape 1"/>
          <p:cNvSpPr/>
          <p:nvPr/>
        </p:nvSpPr>
        <p:spPr>
          <a:xfrm>
            <a:off x="640079" y="1691639"/>
            <a:ext cx="1645922" cy="64009"/>
          </a:xfrm>
          <a:prstGeom prst="rect">
            <a:avLst/>
          </a:prstGeom>
          <a:solidFill>
            <a:srgbClr val="2E7D4F"/>
          </a:solidFill>
          <a:ln w="12700">
            <a:solidFill>
              <a:srgbClr val="2E7D4F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56" name="Text 2"/>
          <p:cNvSpPr txBox="1"/>
          <p:nvPr/>
        </p:nvSpPr>
        <p:spPr>
          <a:xfrm>
            <a:off x="685800" y="2110303"/>
            <a:ext cx="7223760" cy="808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>
              <a:defRPr i="1" sz="1600">
                <a:solidFill>
                  <a:srgbClr val="9BB8D4"/>
                </a:solidFill>
              </a:defRPr>
            </a:pPr>
            <a:r>
              <a:t>"The energy is already being generated.</a:t>
            </a:r>
          </a:p>
          <a:p>
            <a:pPr>
              <a:defRPr i="1" sz="1600">
                <a:solidFill>
                  <a:srgbClr val="9BB8D4"/>
                </a:solidFill>
              </a:defRPr>
            </a:pPr>
            <a:r>
              <a:t>The consumers are already nearby.</a:t>
            </a:r>
          </a:p>
          <a:p>
            <a:pPr>
              <a:defRPr i="1" sz="1600">
                <a:solidFill>
                  <a:srgbClr val="9BB8D4"/>
                </a:solidFill>
              </a:defRPr>
            </a:pPr>
            <a:r>
              <a:t>All we are building is the connection."</a:t>
            </a:r>
          </a:p>
        </p:txBody>
      </p:sp>
      <p:sp>
        <p:nvSpPr>
          <p:cNvPr id="357" name="Text 3"/>
          <p:cNvSpPr txBox="1"/>
          <p:nvPr/>
        </p:nvSpPr>
        <p:spPr>
          <a:xfrm>
            <a:off x="685800" y="3368479"/>
            <a:ext cx="3566160" cy="258203"/>
          </a:xfrm>
          <a:prstGeom prst="rect">
            <a:avLst/>
          </a:prstGeom>
          <a:ln w="12700">
            <a:miter lim="400000"/>
          </a:ln>
        </p:spPr>
        <p:txBody>
          <a:bodyPr lIns="45719" rIns="45719" anchor="ctr">
            <a:spAutoFit/>
          </a:bodyPr>
          <a:lstStyle/>
          <a:p>
            <a:pPr>
              <a:defRPr b="1" sz="1300">
                <a:solidFill>
                  <a:srgbClr val="FFFFFF"/>
                </a:solidFill>
              </a:defRPr>
            </a:pPr>
          </a:p>
        </p:txBody>
      </p:sp>
      <p:sp>
        <p:nvSpPr>
          <p:cNvPr id="358" name="Text 4"/>
          <p:cNvSpPr txBox="1"/>
          <p:nvPr/>
        </p:nvSpPr>
        <p:spPr>
          <a:xfrm>
            <a:off x="685800" y="3799376"/>
            <a:ext cx="7680960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000">
                <a:solidFill>
                  <a:srgbClr val="6E8FAA"/>
                </a:solidFill>
              </a:defRPr>
            </a:lvl1pPr>
          </a:lstStyle>
          <a:p>
            <a:pPr/>
            <a:r>
              <a:t>Project: Renewable Energy Marketplace Platform</a:t>
            </a:r>
          </a:p>
        </p:txBody>
      </p:sp>
      <p:sp>
        <p:nvSpPr>
          <p:cNvPr id="359" name="Text 5"/>
          <p:cNvSpPr txBox="1"/>
          <p:nvPr/>
        </p:nvSpPr>
        <p:spPr>
          <a:xfrm>
            <a:off x="685800" y="4119416"/>
            <a:ext cx="7680960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000">
                <a:solidFill>
                  <a:srgbClr val="6E8FAA"/>
                </a:solidFill>
              </a:defRPr>
            </a:lvl1pPr>
          </a:lstStyle>
          <a:p>
            <a:pPr/>
            <a:r>
              <a:t>Domain: Computer Science + Energy Policy + FinTech</a:t>
            </a:r>
          </a:p>
        </p:txBody>
      </p:sp>
      <p:sp>
        <p:nvSpPr>
          <p:cNvPr id="360" name="Text 6"/>
          <p:cNvSpPr txBox="1"/>
          <p:nvPr/>
        </p:nvSpPr>
        <p:spPr>
          <a:xfrm>
            <a:off x="685800" y="4439456"/>
            <a:ext cx="7680960" cy="228512"/>
          </a:xfrm>
          <a:prstGeom prst="rect">
            <a:avLst/>
          </a:prstGeom>
          <a:ln w="12700">
            <a:miter lim="400000"/>
          </a:ln>
        </p:spPr>
        <p:txBody>
          <a:bodyPr lIns="45719" rIns="45719" anchor="ctr">
            <a:spAutoFit/>
          </a:bodyPr>
          <a:lstStyle/>
          <a:p>
            <a:pPr>
              <a:defRPr sz="1000">
                <a:solidFill>
                  <a:srgbClr val="6E8FAA"/>
                </a:solidFill>
              </a:defRPr>
            </a:pP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